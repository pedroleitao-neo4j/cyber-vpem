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pedroleitao-neo4j/cyber-vpe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loader.ipynb" TargetMode="External" /><Relationship Id="rId3" Type="http://schemas.openxmlformats.org/officeDocument/2006/relationships/hyperlink" Target="cvelistV5" TargetMode="External" /><Relationship Id="rId4" Type="http://schemas.openxmlformats.org/officeDocument/2006/relationships/hyperlink" Target="vpem.ipynb" TargetMode="External" /><Relationship Id="rId5" Type="http://schemas.openxmlformats.org/officeDocument/2006/relationships/hyperlink" Target="other.ipynb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cvelistV5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cvelistV5/cves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pedroleitao-neo4j/cyber-vpe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VPEM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Vulnerability Prioritization and Exposure Management</a:t>
            </a:r>
          </a:p>
          <a:p>
            <a:pPr lvl="0" indent="0" marL="0">
              <a:buNone/>
            </a:pPr>
            <a:r>
              <a:rPr b="1"/>
              <a:t>Cybersecurity Use Cases: Evolving from reactive patching to risk-based strategy</a:t>
            </a:r>
            <a:r>
              <a:rPr/>
              <a:t> </a:t>
            </a:r>
            <a:r>
              <a:rPr i="1"/>
              <a:t>Based on: </a:t>
            </a:r>
            <a:r>
              <a:rPr i="1">
                <a:hlinkClick r:id="rId2"/>
              </a:rPr>
              <a:t>pedroleitao-neo4j/cyber-vpem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Alert Fatigue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Modern organizations are overwhelmed by thousands of software flaws.</a:t>
            </a:r>
          </a:p>
          <a:p>
            <a:pPr lvl="0"/>
            <a:r>
              <a:rPr b="1"/>
              <a:t>The spreadsheet trap:</a:t>
            </a:r>
            <a:r>
              <a:rPr/>
              <a:t> Treating a critical flaw on an isolated server the same as one on an internet-facing gateway.</a:t>
            </a:r>
          </a:p>
          <a:p>
            <a:pPr lvl="0"/>
            <a:r>
              <a:rPr b="1"/>
              <a:t>Reactive vs Proactive:</a:t>
            </a:r>
            <a:r>
              <a:rPr/>
              <a:t> Wasting resources on theoretical risks instead of real-world threats.</a:t>
            </a:r>
          </a:p>
          <a:p>
            <a:pPr lvl="0"/>
            <a:r>
              <a:rPr b="1"/>
              <a:t>Lack of Context:</a:t>
            </a:r>
            <a:r>
              <a:rPr/>
              <a:t> Severity scores (CVSS) don’t account for your specific environment.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VPEM?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It shifts the focus from “What is broken?” to “What could actually hurt us right now?”</a:t>
            </a:r>
          </a:p>
          <a:p>
            <a:pPr lvl="0"/>
            <a:r>
              <a:rPr b="1"/>
              <a:t>Exposure:</a:t>
            </a:r>
            <a:r>
              <a:rPr/>
              <a:t> Is the system public-facing or internal?</a:t>
            </a:r>
          </a:p>
          <a:p>
            <a:pPr lvl="0"/>
            <a:r>
              <a:rPr b="1"/>
              <a:t>Threat Intel:</a:t>
            </a:r>
            <a:r>
              <a:rPr/>
              <a:t> Is there an active exploit in the wild (CISA KEV)?</a:t>
            </a:r>
          </a:p>
          <a:p>
            <a:pPr lvl="0"/>
            <a:r>
              <a:rPr b="1"/>
              <a:t>Criticality:</a:t>
            </a:r>
            <a:r>
              <a:rPr/>
              <a:t> Is this a test server or a production “Crown Jewel” database?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essentials only</a:t>
            </a:r>
          </a:p>
          <a:p>
            <a:pPr lvl="0" indent="-342900" marL="342900">
              <a:buAutoNum type="arabicPeriod"/>
            </a:pPr>
            <a:r>
              <a:rPr b="1"/>
              <a:t>Ingest NVD + KEV (</a:t>
            </a:r>
            <a:r>
              <a:rPr b="1">
                <a:hlinkClick r:id="rId2"/>
              </a:rPr>
              <a:t>loader.ipynb</a:t>
            </a:r>
            <a:r>
              <a:rPr b="1"/>
              <a:t>):</a:t>
            </a:r>
            <a:r>
              <a:rPr/>
              <a:t> Batch </a:t>
            </a:r>
            <a:r>
              <a:rPr>
                <a:latin typeface="Courier"/>
              </a:rPr>
              <a:t>UNWIND</a:t>
            </a:r>
            <a:r>
              <a:rPr/>
              <a:t> + </a:t>
            </a:r>
            <a:r>
              <a:rPr>
                <a:latin typeface="Courier"/>
              </a:rPr>
              <a:t>MERGE</a:t>
            </a:r>
            <a:r>
              <a:rPr/>
              <a:t> from local </a:t>
            </a:r>
            <a:r>
              <a:rPr>
                <a:hlinkClick r:id="rId3"/>
              </a:rPr>
              <a:t>cvelistV5</a:t>
            </a:r>
            <a:r>
              <a:rPr/>
              <a:t> and enrich with CISA KEV.</a:t>
            </a:r>
          </a:p>
          <a:p>
            <a:pPr lvl="0" indent="-342900" marL="342900">
              <a:buAutoNum type="arabicPeriod"/>
            </a:pPr>
            <a:r>
              <a:rPr b="1"/>
              <a:t>Run VPEM queries (</a:t>
            </a:r>
            <a:r>
              <a:rPr b="1">
                <a:hlinkClick r:id="rId4"/>
              </a:rPr>
              <a:t>vpem.ipynb</a:t>
            </a:r>
            <a:r>
              <a:rPr b="1"/>
              <a:t>):</a:t>
            </a:r>
            <a:r>
              <a:rPr/>
              <a:t> Reachability, Blast Radius, Remediation ROI, Contextual Risk Scoring.</a:t>
            </a:r>
          </a:p>
          <a:p>
            <a:pPr lvl="0" indent="-342900" marL="342900">
              <a:buAutoNum type="arabicPeriod"/>
            </a:pPr>
            <a:r>
              <a:rPr b="1"/>
              <a:t>Explore extras (</a:t>
            </a:r>
            <a:r>
              <a:rPr b="1">
                <a:hlinkClick r:id="rId5"/>
              </a:rPr>
              <a:t>other.ipynb</a:t>
            </a:r>
            <a:r>
              <a:rPr b="1"/>
              <a:t>):</a:t>
            </a:r>
            <a:r>
              <a:rPr/>
              <a:t> CVE/CWE analyses and risk concentration patterns.</a:t>
            </a:r>
          </a:p>
          <a:p>
            <a:pPr lvl="0" indent="0" marL="0">
              <a:buNone/>
            </a:pPr>
            <a:r>
              <a:rPr/>
              <a:t>### You can </a:t>
            </a:r>
            <a:r>
              <a:rPr b="1"/>
              <a:t>use your own data</a:t>
            </a:r>
            <a:r>
              <a:rPr/>
              <a:t>, just swap out the synthetic infra with real asset inventory.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Integration Layers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build a holistic view, three distinct data domains are integrated: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Key Entities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Organizational Context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Synthetic infra in 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Apps, Build Artifacts, Compute, Endpoints, Identities, IAM Policies, Cloud Services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Vulnerability Intel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Local NVD repo (</a:t>
                      </a:r>
                      <a:r>
                        <a:rPr>
                          <a:hlinkClick r:id="rId2"/>
                        </a:rPr>
                        <a:t>cvelistV5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CVEs, CVSS, CWEs, Vendors, Products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Threat Intelligence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CISA KEV feed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Known-exploited flag, due dates, catalog linkage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Ingestion Snapshot (NVD + KEV)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ingest and how</a:t>
            </a:r>
          </a:p>
          <a:p>
            <a:pPr lvl="0"/>
            <a:r>
              <a:rPr b="1"/>
              <a:t>NVD CVEs:</a:t>
            </a:r>
            <a:r>
              <a:rPr/>
              <a:t> Read local JSONs under </a:t>
            </a:r>
            <a:r>
              <a:rPr>
                <a:hlinkClick r:id="rId2"/>
              </a:rPr>
              <a:t>cvelistV5/cves</a:t>
            </a:r>
            <a:r>
              <a:rPr/>
              <a:t>; ingest only PUBLISHED entries; consolidate CNA + ADP metrics; capture CVE/CWE and link CVEs to </a:t>
            </a:r>
            <a:r>
              <a:rPr>
                <a:latin typeface="Courier"/>
              </a:rPr>
              <a:t>Vendor → Product</a:t>
            </a:r>
            <a:r>
              <a:rPr/>
              <a:t> via </a:t>
            </a:r>
            <a:r>
              <a:rPr>
                <a:latin typeface="Courier"/>
              </a:rPr>
              <a:t>AFFECTS</a:t>
            </a:r>
            <a:r>
              <a:rPr/>
              <a:t>.</a:t>
            </a:r>
          </a:p>
          <a:p>
            <a:pPr lvl="0"/>
            <a:r>
              <a:rPr b="1"/>
              <a:t>Performance &amp; Idempotency:</a:t>
            </a:r>
            <a:r>
              <a:rPr/>
              <a:t> Use batched, transactional loads (UNWIND/MERGE semantics) and create uniqueness constraints for </a:t>
            </a:r>
            <a:r>
              <a:rPr>
                <a:latin typeface="Courier"/>
              </a:rPr>
              <a:t>CVE.id</a:t>
            </a:r>
            <a:r>
              <a:rPr/>
              <a:t>, </a:t>
            </a:r>
            <a:r>
              <a:rPr>
                <a:latin typeface="Courier"/>
              </a:rPr>
              <a:t>CWE.id</a:t>
            </a:r>
            <a:r>
              <a:rPr/>
              <a:t>, </a:t>
            </a:r>
            <a:r>
              <a:rPr>
                <a:latin typeface="Courier"/>
              </a:rPr>
              <a:t>Vendor.name</a:t>
            </a:r>
            <a:r>
              <a:rPr/>
              <a:t>, </a:t>
            </a:r>
            <a:r>
              <a:rPr>
                <a:latin typeface="Courier"/>
              </a:rPr>
              <a:t>Product.name</a:t>
            </a:r>
            <a:r>
              <a:rPr/>
              <a:t>.</a:t>
            </a:r>
          </a:p>
          <a:p>
            <a:pPr lvl="0"/>
            <a:r>
              <a:rPr b="1"/>
              <a:t>KEV Enrichment:</a:t>
            </a:r>
            <a:r>
              <a:rPr/>
              <a:t> Fetch the official CISA KEV feed; flag CVEs as known exploited; add due/added dates; and link each CVE to a </a:t>
            </a:r>
            <a:r>
              <a:rPr>
                <a:latin typeface="Courier"/>
              </a:rPr>
              <a:t>Catalog</a:t>
            </a:r>
            <a:r>
              <a:rPr/>
              <a:t> node for traceability.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Resulting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graph connects code, infrastructure, and identity in real-time.</a:t>
            </a:r>
          </a:p>
        </p:txBody>
      </p:sp>
      <p:pic>
        <p:nvPicPr>
          <p:cNvPr descr="vpem-sche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bg right:55% contain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The extended schema captures deployment, usage, and vulnerability identification.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Graph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use Neo4j for Vulnerability Management?</a:t>
            </a:r>
          </a:p>
          <a:p>
            <a:pPr lvl="0"/>
            <a:r>
              <a:rPr b="1"/>
              <a:t>Real-world Reachability:</a:t>
            </a:r>
            <a:r>
              <a:rPr/>
              <a:t> Is the vulnerable library actually reachable from an </a:t>
            </a:r>
            <a:r>
              <a:rPr>
                <a:latin typeface="Courier"/>
              </a:rPr>
              <a:t>Endpoint</a:t>
            </a:r>
            <a:r>
              <a:rPr/>
              <a:t>?</a:t>
            </a:r>
          </a:p>
          <a:p>
            <a:pPr lvl="0"/>
            <a:r>
              <a:rPr b="1"/>
              <a:t>Impact Analysis:</a:t>
            </a:r>
            <a:r>
              <a:rPr/>
              <a:t> If this server is compromised, which “Crown Jewel” assets (PII databases) are at risk via its Identity?</a:t>
            </a:r>
          </a:p>
          <a:p>
            <a:pPr lvl="0"/>
            <a:r>
              <a:rPr b="1"/>
              <a:t>Efficiency:</a:t>
            </a:r>
            <a:r>
              <a:rPr/>
              <a:t> Find the “Chokepoint” - the one library update that fixes the most reachable risk.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Visualizing Reachability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Vulnerability to Compute Instance Reachability</a:t>
            </a:r>
          </a:p>
        </p:txBody>
      </p:sp>
      <p:pic>
        <p:nvPicPr>
          <p:cNvPr descr="vulnerability-to-compute-grap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90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bg right:55% contain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Attack Path Analysis:</a:t>
            </a:r>
            <a:r>
              <a:rPr/>
              <a:t> Identifying the direct path from a CVE to an internet-facing host.</a:t>
            </a:r>
          </a:p>
          <a:p>
            <a:pPr lvl="0"/>
            <a:r>
              <a:rPr b="1"/>
              <a:t>Blast Radius:</a:t>
            </a:r>
            <a:r>
              <a:rPr/>
              <a:t> Mapping what a compromised identity can access.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Reachability Example (Log4Shell)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Is a known CVE exposed to the internet?</a:t>
            </a:r>
          </a:p>
          <a:p>
            <a:pPr lvl="0" indent="0">
              <a:buNone/>
            </a:pPr>
            <a:r>
              <a:rPr>
                <a:latin typeface="Courier"/>
              </a:rPr>
              <a:t>MATCH (v:CVE)-[:IDENTIFIED_IN]-&gt;(l:Library)
      -[:DEPENDENCY_OF]-&gt;(:BuildArtifact)
      -[:RUNNING_AS]-&gt;(app:Application)
      -[:HOSTED_ON]-&gt;(i:ComputeInstance)
WHERE v.id = 'CVE-2021-44228' AND EXISTS { (:Endpoint)-[:RESOLVES_TO]-&gt;(i) }
RETURN app.name AS Application, i.public_ip AS Public_IP, v.id AS CVE</a:t>
            </a:r>
          </a:p>
          <a:p>
            <a:pPr lvl="0" indent="0" marL="0">
              <a:buNone/>
            </a:pPr>
            <a:r>
              <a:rPr/>
              <a:t>Why it matters: filters out non-exploitable findings by requiring an internet-facing </a:t>
            </a:r>
            <a:r>
              <a:rPr>
                <a:latin typeface="Courier"/>
              </a:rPr>
              <a:t>Endpoint</a:t>
            </a:r>
            <a:r>
              <a:rPr/>
              <a:t> → </a:t>
            </a:r>
            <a:r>
              <a:rPr>
                <a:latin typeface="Courier"/>
              </a:rPr>
              <a:t>ComputeInstance</a:t>
            </a:r>
            <a:r>
              <a:rPr/>
              <a:t> link.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 Example (Blast Radius)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could the compromised app access?</a:t>
            </a:r>
          </a:p>
          <a:p>
            <a:pPr lvl="0" indent="0">
              <a:buNone/>
            </a:pPr>
            <a:r>
              <a:rPr>
                <a:latin typeface="Courier"/>
              </a:rPr>
              <a:t>MATCH (v:CVE)-[:IDENTIFIED_IN]-&gt;(:Library)
      -[:DEPENDENCY_OF]-&gt;(:BuildArtifact)
      -[:RUNNING_AS]-&gt;(app:Application)
MATCH (app)-[:AUTHENTICATES_VIA]-&gt;(:Identity)
      -[:ASSUMES]-&gt;(:IAMPolicy)
      -[:HAS_ACCESS_TO]-&gt;(cs:CloudService)
RETURN v.id AS CVE, app.name AS Application, cs.resource_name AS Resource</a:t>
            </a:r>
          </a:p>
          <a:p>
            <a:pPr lvl="0" indent="0" marL="0">
              <a:buNone/>
            </a:pPr>
            <a:r>
              <a:rPr/>
              <a:t>Connects software risk to cloud data access (e.g., PII bucket exposure).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Remediation ROI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repo fix removes the most exposed risk?</a:t>
            </a:r>
          </a:p>
          <a:p>
            <a:pPr lvl="0" indent="0">
              <a:buNone/>
            </a:pPr>
            <a:r>
              <a:rPr>
                <a:latin typeface="Courier"/>
              </a:rPr>
              <a:t>MATCH (v:CVE)-[:IDENTIFIED_IN]-&gt;(:Library)
      -[:DEPENDENCY_OF]-&gt;(:BuildArtifact)
      -[:BUILT_FROM]-&gt;(r:Repo)
MATCH (r)&lt;-[:BUILT_FROM]-(:BuildArtifact)
      -[:RUNNING_AS]-(:Application)
      -[:HOSTED_ON]-&gt;(i:ComputeInstance)
WHERE i.public_ip IS NOT NULL
RETURN r.name AS Repo,
       COUNT(DISTINCT v) AS Total_Vulns,
       COUNT(DISTINCT i) AS Exposed_Instances
ORDER BY Total_Vulns DESC</a:t>
            </a:r>
          </a:p>
          <a:p>
            <a:pPr lvl="0" indent="0" marL="0">
              <a:buNone/>
            </a:pPr>
            <a:r>
              <a:rPr/>
              <a:t>Targets high-ROI dependency updates at the source (repository ownership).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Contextual 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Dynamic score = CVSS × Reachability × Impact</a:t>
            </a:r>
          </a:p>
          <a:p>
            <a:pPr lvl="0" indent="0">
              <a:buNone/>
            </a:pPr>
            <a:r>
              <a:rPr>
                <a:latin typeface="Courier"/>
              </a:rPr>
              <a:t>MATCH (v:CVE)-[:IDENTIFIED_IN]-&gt;(:Library)
      -[:DEPENDENCY_OF]-&gt;(:BuildArtifact)
      -[:RUNNING_AS]-&gt;(app:Application)
      -[:HOSTED_ON]-&gt;(ins:ComputeInstance)
WITH v, app, ins,
     CASE WHEN ins.public_ip IS NOT NULL THEN 1.5 ELSE 1.0 END AS reach_mult
OPTIONAL MATCH (ins)-[:RUNS_AS]-&gt;(:Identity)
      -[:ASSUMES]-&gt;(:IAMPolicy)
      -[:HAS_ACCESS_TO]-&gt;(:CloudService)
WITH v, app, reach_mult,
     CASE WHEN count(*) &gt; 0 THEN 2.0 ELSE 1.0 END AS impact_mult
RETURN v.id AS CVE,
       app.name AS Application,
       v.baseScore AS Base_CVSS,
       reach_mult AS Reach_Mult,
       impact_mult AS Impact_Mult,
       round(v.baseScore * reach_mult * impact_mult, 2) AS Final_Risk
ORDER BY Final_Risk DESC</a:t>
            </a:r>
          </a:p>
          <a:p>
            <a:pPr lvl="0" indent="0" marL="0">
              <a:buNone/>
            </a:pPr>
            <a:r>
              <a:rPr/>
              <a:t>Prioritizes internet-exposed paths with sensitive-data access to the top.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Outward 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VPEM graph acts as a central nervous system for security data:</a:t>
            </a:r>
          </a:p>
          <a:p>
            <a:pPr lvl="0"/>
            <a:r>
              <a:rPr b="1"/>
              <a:t>SecOps (SOAR):</a:t>
            </a:r>
            <a:r>
              <a:rPr/>
              <a:t> Contextual alert enrichment and automated containment.</a:t>
            </a:r>
          </a:p>
          <a:p>
            <a:pPr lvl="0"/>
            <a:r>
              <a:rPr b="1"/>
              <a:t>DevOps (CI/CD):</a:t>
            </a:r>
            <a:r>
              <a:rPr/>
              <a:t> “Policy as Code” guardrails to fail builds that create lateral movement paths.</a:t>
            </a:r>
          </a:p>
          <a:p>
            <a:pPr lvl="0"/>
            <a:r>
              <a:rPr b="1"/>
              <a:t>GRC &amp; Compliance:</a:t>
            </a:r>
            <a:r>
              <a:rPr/>
              <a:t> Strategic risk metrics and CISA KEV remediation tracking.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GitHub:</a:t>
            </a:r>
            <a:r>
              <a:rPr/>
              <a:t> </a:t>
            </a:r>
            <a:r>
              <a:rPr>
                <a:hlinkClick r:id="rId2"/>
              </a:rPr>
              <a:t>pedroleitao-neo4j/cyber-vpem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2026-01-12T10:21:21Z</dcterms:created>
  <dcterms:modified xsi:type="dcterms:W3CDTF">2026-01-12T10:21:21Z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footer">
    <vt:lpwstr>height:30px    |    © Neo4j 2026</vt:lpwstr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style">
    <vt:lpwstr>section.title h1 { color: #008cc1; } section.title h2 { color: #555; }/* Align the footer (logo + text) to the left */ footer { all: unset; position: absolute; bottom: 30px; left: 40px; display: flex; align-items: center; font-size: 16px; color: #888; }</vt:lpwstr>
  </property>
  <property fmtid="{D5CDD505-2E9C-101B-9397-08002B2CF9AE}" pid="7" name="theme">
    <vt:lpwstr>default</vt:lpwstr>
  </property>
</Properties>
</file>