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747720" y="2061360"/>
            <a:ext cx="270108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VPEM Graph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747720" y="2980440"/>
            <a:ext cx="82789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Vulnerability Prioritization and Exposure Management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47720" y="3552840"/>
            <a:ext cx="9739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Cybersecurity Use Cases: Evolving from reactive patching to risk-based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3962520"/>
            <a:ext cx="1163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strategy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381560"/>
            <a:ext cx="4947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Based on: </a:t>
            </a:r>
            <a:r>
              <a:rPr b="0" i="1" lang="en-US" sz="2170" spc="-1" strike="noStrike">
                <a:solidFill>
                  <a:srgbClr val="0041c6"/>
                </a:solidFill>
                <a:latin typeface="NotoSans"/>
                <a:ea typeface="NotoSans"/>
              </a:rPr>
              <a:t>pedroleitao-neo4j/cyber-vpem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1175400"/>
            <a:ext cx="59000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The Problem: Alert Fatigue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47720" y="2094480"/>
            <a:ext cx="1000728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Modern organizations are overwhelmed by thousands of software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1047600" y="3200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47720" y="2475360"/>
            <a:ext cx="88920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ﬂaws.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300320" y="3048120"/>
            <a:ext cx="9982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The spreadsheet trap: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Treating a critical ﬂaw on an isolated server the same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1047600" y="40957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300320" y="3467160"/>
            <a:ext cx="4885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as one on an internet-facing gateway.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00320" y="3943440"/>
            <a:ext cx="100191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Reactive vs Proactive: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Wasting resources on theoretical risks instead of real-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1047600" y="50004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4"/>
                  <a:pt x="227" y="226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6"/>
                </a:cubicBezTo>
                <a:cubicBezTo>
                  <a:pt x="26" y="214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300320" y="4362480"/>
            <a:ext cx="1809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world threats.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300320" y="4848120"/>
            <a:ext cx="9089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Lack of Context: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Severity scores (CVSS) don't account for your speciﬁc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300320" y="5257800"/>
            <a:ext cx="1745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environment.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47720" y="1803960"/>
            <a:ext cx="320112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What is VPEM?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47720" y="2723040"/>
            <a:ext cx="1063836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It shifts the focus from </a:t>
            </a:r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"What is broken?"</a:t>
            </a:r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 to </a:t>
            </a:r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"What could actually hurt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047600" y="38192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47720" y="3094560"/>
            <a:ext cx="219528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us right now?"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1047600" y="43052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9"/>
                  <a:pt x="10" y="82"/>
                </a:cubicBezTo>
                <a:cubicBezTo>
                  <a:pt x="17" y="66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9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300320" y="3666960"/>
            <a:ext cx="6418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Exposure: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Is the system public-facing or internal?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047600" y="47908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6" y="52"/>
                  <a:pt x="39" y="40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7"/>
                  <a:pt x="227" y="40"/>
                </a:cubicBezTo>
                <a:cubicBezTo>
                  <a:pt x="239" y="52"/>
                  <a:pt x="249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300320" y="4152960"/>
            <a:ext cx="7884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Threat Intel: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Is there an active exploit in the wild (CISA KEV)?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300320" y="4638600"/>
            <a:ext cx="9280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Criticality: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Is this a test server or a production "Crown Jewel" database?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47720" y="870480"/>
            <a:ext cx="391428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Core Architecture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47720" y="1789560"/>
            <a:ext cx="28735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The essentials only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505560" y="2409480"/>
            <a:ext cx="1028880" cy="352800"/>
          </a:xfrm>
          <a:custGeom>
            <a:avLst/>
            <a:gdLst/>
            <a:ahLst/>
            <a:rect l="0" t="0" r="r" b="b"/>
            <a:pathLst>
              <a:path w="2858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1"/>
                  <a:pt x="148" y="0"/>
                  <a:pt x="158" y="0"/>
                </a:cubicBezTo>
                <a:lnTo>
                  <a:pt x="2699" y="0"/>
                </a:lnTo>
                <a:cubicBezTo>
                  <a:pt x="2710" y="0"/>
                  <a:pt x="2720" y="1"/>
                  <a:pt x="2730" y="4"/>
                </a:cubicBezTo>
                <a:cubicBezTo>
                  <a:pt x="2740" y="6"/>
                  <a:pt x="2750" y="9"/>
                  <a:pt x="2760" y="13"/>
                </a:cubicBezTo>
                <a:cubicBezTo>
                  <a:pt x="2770" y="17"/>
                  <a:pt x="2779" y="21"/>
                  <a:pt x="2787" y="27"/>
                </a:cubicBezTo>
                <a:cubicBezTo>
                  <a:pt x="2796" y="33"/>
                  <a:pt x="2804" y="40"/>
                  <a:pt x="2812" y="47"/>
                </a:cubicBezTo>
                <a:cubicBezTo>
                  <a:pt x="2819" y="54"/>
                  <a:pt x="2825" y="62"/>
                  <a:pt x="2831" y="71"/>
                </a:cubicBezTo>
                <a:cubicBezTo>
                  <a:pt x="2837" y="80"/>
                  <a:pt x="2842" y="89"/>
                  <a:pt x="2846" y="98"/>
                </a:cubicBezTo>
                <a:cubicBezTo>
                  <a:pt x="2850" y="108"/>
                  <a:pt x="2853" y="118"/>
                  <a:pt x="2855" y="128"/>
                </a:cubicBezTo>
                <a:cubicBezTo>
                  <a:pt x="2857" y="138"/>
                  <a:pt x="2858" y="149"/>
                  <a:pt x="2858" y="159"/>
                </a:cubicBezTo>
                <a:lnTo>
                  <a:pt x="2858" y="822"/>
                </a:lnTo>
                <a:cubicBezTo>
                  <a:pt x="2858" y="832"/>
                  <a:pt x="2857" y="842"/>
                  <a:pt x="2855" y="853"/>
                </a:cubicBezTo>
                <a:cubicBezTo>
                  <a:pt x="2853" y="863"/>
                  <a:pt x="2850" y="873"/>
                  <a:pt x="2846" y="882"/>
                </a:cubicBezTo>
                <a:cubicBezTo>
                  <a:pt x="2842" y="892"/>
                  <a:pt x="2837" y="901"/>
                  <a:pt x="2831" y="910"/>
                </a:cubicBezTo>
                <a:cubicBezTo>
                  <a:pt x="2825" y="919"/>
                  <a:pt x="2819" y="927"/>
                  <a:pt x="2812" y="934"/>
                </a:cubicBezTo>
                <a:cubicBezTo>
                  <a:pt x="2804" y="941"/>
                  <a:pt x="2796" y="948"/>
                  <a:pt x="2787" y="954"/>
                </a:cubicBezTo>
                <a:cubicBezTo>
                  <a:pt x="2779" y="959"/>
                  <a:pt x="2770" y="964"/>
                  <a:pt x="2760" y="968"/>
                </a:cubicBezTo>
                <a:cubicBezTo>
                  <a:pt x="2750" y="972"/>
                  <a:pt x="2740" y="975"/>
                  <a:pt x="2730" y="977"/>
                </a:cubicBezTo>
                <a:cubicBezTo>
                  <a:pt x="2720" y="979"/>
                  <a:pt x="2710" y="980"/>
                  <a:pt x="2699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1" y="948"/>
                  <a:pt x="53" y="941"/>
                  <a:pt x="46" y="934"/>
                </a:cubicBezTo>
                <a:cubicBezTo>
                  <a:pt x="39" y="927"/>
                  <a:pt x="32" y="919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996120" y="2362320"/>
            <a:ext cx="5635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1. 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Ingest NVD + KEV (</a:t>
            </a:r>
            <a:r>
              <a:rPr b="1" lang="en-US" sz="2170" spc="-1" strike="noStrike">
                <a:solidFill>
                  <a:srgbClr val="0041c6"/>
                </a:solidFill>
                <a:latin typeface="NotoSans-Semi"/>
                <a:ea typeface="NotoSans-Semi"/>
              </a:rPr>
              <a:t>loader.ipynb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):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Batch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598440" y="2461320"/>
            <a:ext cx="844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UNWIND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7839000" y="2409480"/>
            <a:ext cx="895680" cy="352800"/>
          </a:xfrm>
          <a:custGeom>
            <a:avLst/>
            <a:gdLst/>
            <a:ahLst/>
            <a:rect l="0" t="0" r="r" b="b"/>
            <a:pathLst>
              <a:path w="2488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7" y="4"/>
                </a:cubicBezTo>
                <a:cubicBezTo>
                  <a:pt x="138" y="1"/>
                  <a:pt x="148" y="0"/>
                  <a:pt x="158" y="0"/>
                </a:cubicBezTo>
                <a:lnTo>
                  <a:pt x="2329" y="0"/>
                </a:lnTo>
                <a:cubicBezTo>
                  <a:pt x="2339" y="0"/>
                  <a:pt x="2350" y="1"/>
                  <a:pt x="2360" y="4"/>
                </a:cubicBezTo>
                <a:cubicBezTo>
                  <a:pt x="2370" y="6"/>
                  <a:pt x="2380" y="9"/>
                  <a:pt x="2390" y="13"/>
                </a:cubicBezTo>
                <a:cubicBezTo>
                  <a:pt x="2399" y="17"/>
                  <a:pt x="2409" y="21"/>
                  <a:pt x="2417" y="27"/>
                </a:cubicBezTo>
                <a:cubicBezTo>
                  <a:pt x="2426" y="33"/>
                  <a:pt x="2434" y="40"/>
                  <a:pt x="2441" y="47"/>
                </a:cubicBezTo>
                <a:cubicBezTo>
                  <a:pt x="2449" y="54"/>
                  <a:pt x="2455" y="62"/>
                  <a:pt x="2461" y="71"/>
                </a:cubicBezTo>
                <a:cubicBezTo>
                  <a:pt x="2467" y="80"/>
                  <a:pt x="2472" y="89"/>
                  <a:pt x="2476" y="98"/>
                </a:cubicBezTo>
                <a:cubicBezTo>
                  <a:pt x="2480" y="108"/>
                  <a:pt x="2483" y="118"/>
                  <a:pt x="2485" y="128"/>
                </a:cubicBezTo>
                <a:cubicBezTo>
                  <a:pt x="2487" y="138"/>
                  <a:pt x="2488" y="149"/>
                  <a:pt x="2488" y="159"/>
                </a:cubicBezTo>
                <a:lnTo>
                  <a:pt x="2488" y="822"/>
                </a:lnTo>
                <a:cubicBezTo>
                  <a:pt x="2488" y="832"/>
                  <a:pt x="2487" y="842"/>
                  <a:pt x="2485" y="853"/>
                </a:cubicBezTo>
                <a:cubicBezTo>
                  <a:pt x="2483" y="863"/>
                  <a:pt x="2480" y="873"/>
                  <a:pt x="2476" y="882"/>
                </a:cubicBezTo>
                <a:cubicBezTo>
                  <a:pt x="2472" y="892"/>
                  <a:pt x="2467" y="901"/>
                  <a:pt x="2461" y="910"/>
                </a:cubicBezTo>
                <a:cubicBezTo>
                  <a:pt x="2455" y="919"/>
                  <a:pt x="2449" y="927"/>
                  <a:pt x="2441" y="934"/>
                </a:cubicBezTo>
                <a:cubicBezTo>
                  <a:pt x="2434" y="941"/>
                  <a:pt x="2426" y="948"/>
                  <a:pt x="2417" y="954"/>
                </a:cubicBezTo>
                <a:cubicBezTo>
                  <a:pt x="2409" y="959"/>
                  <a:pt x="2399" y="964"/>
                  <a:pt x="2390" y="968"/>
                </a:cubicBezTo>
                <a:cubicBezTo>
                  <a:pt x="2380" y="972"/>
                  <a:pt x="2370" y="975"/>
                  <a:pt x="2360" y="977"/>
                </a:cubicBezTo>
                <a:cubicBezTo>
                  <a:pt x="2350" y="979"/>
                  <a:pt x="2339" y="980"/>
                  <a:pt x="2329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4" y="941"/>
                  <a:pt x="46" y="934"/>
                </a:cubicBezTo>
                <a:cubicBezTo>
                  <a:pt x="39" y="927"/>
                  <a:pt x="32" y="919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537320" y="2362320"/>
            <a:ext cx="300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+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32960" y="246132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MERGE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731080" y="2362320"/>
            <a:ext cx="2570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from local </a:t>
            </a:r>
            <a:r>
              <a:rPr b="0" lang="en-US" sz="2170" spc="-1" strike="noStrike">
                <a:solidFill>
                  <a:srgbClr val="0041c6"/>
                </a:solidFill>
                <a:latin typeface="NotoSans"/>
                <a:ea typeface="NotoSans"/>
              </a:rPr>
              <a:t>cvelistV5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300320" y="2790720"/>
            <a:ext cx="3312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and enrich with CISA KEV.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996120" y="3267000"/>
            <a:ext cx="10512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2. 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Run VPEM queries (</a:t>
            </a:r>
            <a:r>
              <a:rPr b="1" lang="en-US" sz="2170" spc="-1" strike="noStrike">
                <a:solidFill>
                  <a:srgbClr val="0041c6"/>
                </a:solidFill>
                <a:latin typeface="NotoSans-Semi"/>
                <a:ea typeface="NotoSans-Semi"/>
              </a:rPr>
              <a:t>vpem.ipynb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):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Reachability, Blast Radius, Remediation ROI,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300320" y="3686040"/>
            <a:ext cx="3124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Contextual Risk Scoring.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996120" y="4172040"/>
            <a:ext cx="9638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3. 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Explore extras (</a:t>
            </a:r>
            <a:r>
              <a:rPr b="1" lang="en-US" sz="2170" spc="-1" strike="noStrike">
                <a:solidFill>
                  <a:srgbClr val="0041c6"/>
                </a:solidFill>
                <a:latin typeface="NotoSans-Semi"/>
                <a:ea typeface="NotoSans-Semi"/>
              </a:rPr>
              <a:t>other.ipynb</a:t>
            </a:r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):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CVE/CWE analyses and risk concentration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300320" y="4581360"/>
            <a:ext cx="1169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patterns.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47720" y="5190120"/>
            <a:ext cx="1059264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You can </a:t>
            </a:r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use your own data</a:t>
            </a:r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, just swap out the synthetic infra with real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47720" y="5561640"/>
            <a:ext cx="243288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asset inventory.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752400" y="2247840"/>
            <a:ext cx="2743560" cy="533520"/>
          </a:xfrm>
          <a:custGeom>
            <a:avLst/>
            <a:gdLst/>
            <a:ahLst/>
            <a:rect l="0" t="0" r="r" b="b"/>
            <a:pathLst>
              <a:path w="7621" h="1482">
                <a:moveTo>
                  <a:pt x="0" y="0"/>
                </a:moveTo>
                <a:lnTo>
                  <a:pt x="7621" y="0"/>
                </a:lnTo>
                <a:lnTo>
                  <a:pt x="76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3495600" y="224784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924520" y="2247840"/>
            <a:ext cx="5515200" cy="533520"/>
          </a:xfrm>
          <a:custGeom>
            <a:avLst/>
            <a:gdLst/>
            <a:ahLst/>
            <a:rect l="0" t="0" r="r" b="b"/>
            <a:pathLst>
              <a:path w="15320" h="1482">
                <a:moveTo>
                  <a:pt x="0" y="0"/>
                </a:moveTo>
                <a:lnTo>
                  <a:pt x="15320" y="0"/>
                </a:lnTo>
                <a:lnTo>
                  <a:pt x="1532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52400" y="2781000"/>
            <a:ext cx="2743560" cy="1371960"/>
          </a:xfrm>
          <a:custGeom>
            <a:avLst/>
            <a:gdLst/>
            <a:ahLst/>
            <a:rect l="0" t="0" r="r" b="b"/>
            <a:pathLst>
              <a:path w="7621" h="3811">
                <a:moveTo>
                  <a:pt x="0" y="0"/>
                </a:moveTo>
                <a:lnTo>
                  <a:pt x="7621" y="0"/>
                </a:lnTo>
                <a:lnTo>
                  <a:pt x="7621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3495600" y="2781000"/>
            <a:ext cx="2429280" cy="1371960"/>
          </a:xfrm>
          <a:custGeom>
            <a:avLst/>
            <a:gdLst/>
            <a:ahLst/>
            <a:rect l="0" t="0" r="r" b="b"/>
            <a:pathLst>
              <a:path w="6748" h="3811">
                <a:moveTo>
                  <a:pt x="0" y="0"/>
                </a:moveTo>
                <a:lnTo>
                  <a:pt x="6748" y="0"/>
                </a:lnTo>
                <a:lnTo>
                  <a:pt x="674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5924520" y="2781000"/>
            <a:ext cx="5515200" cy="1371960"/>
          </a:xfrm>
          <a:custGeom>
            <a:avLst/>
            <a:gdLst/>
            <a:ahLst/>
            <a:rect l="0" t="0" r="r" b="b"/>
            <a:pathLst>
              <a:path w="15320" h="3811">
                <a:moveTo>
                  <a:pt x="0" y="0"/>
                </a:moveTo>
                <a:lnTo>
                  <a:pt x="15320" y="0"/>
                </a:lnTo>
                <a:lnTo>
                  <a:pt x="1532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52400" y="4152600"/>
            <a:ext cx="2743560" cy="952920"/>
          </a:xfrm>
          <a:custGeom>
            <a:avLst/>
            <a:gdLst/>
            <a:ahLst/>
            <a:rect l="0" t="0" r="r" b="b"/>
            <a:pathLst>
              <a:path w="7621" h="2647">
                <a:moveTo>
                  <a:pt x="0" y="0"/>
                </a:moveTo>
                <a:lnTo>
                  <a:pt x="7621" y="0"/>
                </a:lnTo>
                <a:lnTo>
                  <a:pt x="762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3495600" y="4152600"/>
            <a:ext cx="2429280" cy="952920"/>
          </a:xfrm>
          <a:custGeom>
            <a:avLst/>
            <a:gdLst/>
            <a:ahLst/>
            <a:rect l="0" t="0" r="r" b="b"/>
            <a:pathLst>
              <a:path w="6748" h="2647">
                <a:moveTo>
                  <a:pt x="0" y="0"/>
                </a:moveTo>
                <a:lnTo>
                  <a:pt x="6748" y="0"/>
                </a:lnTo>
                <a:lnTo>
                  <a:pt x="674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5924520" y="4152600"/>
            <a:ext cx="5515200" cy="952920"/>
          </a:xfrm>
          <a:custGeom>
            <a:avLst/>
            <a:gdLst/>
            <a:ahLst/>
            <a:rect l="0" t="0" r="r" b="b"/>
            <a:pathLst>
              <a:path w="15320" h="2647">
                <a:moveTo>
                  <a:pt x="0" y="0"/>
                </a:moveTo>
                <a:lnTo>
                  <a:pt x="15320" y="0"/>
                </a:lnTo>
                <a:lnTo>
                  <a:pt x="153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52400" y="5105160"/>
            <a:ext cx="2743560" cy="952920"/>
          </a:xfrm>
          <a:custGeom>
            <a:avLst/>
            <a:gdLst/>
            <a:ahLst/>
            <a:rect l="0" t="0" r="r" b="b"/>
            <a:pathLst>
              <a:path w="7621" h="2647">
                <a:moveTo>
                  <a:pt x="0" y="0"/>
                </a:moveTo>
                <a:lnTo>
                  <a:pt x="7621" y="0"/>
                </a:lnTo>
                <a:lnTo>
                  <a:pt x="762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3495600" y="5105160"/>
            <a:ext cx="2429280" cy="952920"/>
          </a:xfrm>
          <a:custGeom>
            <a:avLst/>
            <a:gdLst/>
            <a:ahLst/>
            <a:rect l="0" t="0" r="r" b="b"/>
            <a:pathLst>
              <a:path w="6748" h="2647">
                <a:moveTo>
                  <a:pt x="0" y="0"/>
                </a:moveTo>
                <a:lnTo>
                  <a:pt x="6748" y="0"/>
                </a:lnTo>
                <a:lnTo>
                  <a:pt x="674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5924520" y="5105160"/>
            <a:ext cx="5515200" cy="952920"/>
          </a:xfrm>
          <a:custGeom>
            <a:avLst/>
            <a:gdLst/>
            <a:ahLst/>
            <a:rect l="0" t="0" r="r" b="b"/>
            <a:pathLst>
              <a:path w="15320" h="2647">
                <a:moveTo>
                  <a:pt x="0" y="0"/>
                </a:moveTo>
                <a:lnTo>
                  <a:pt x="15320" y="0"/>
                </a:lnTo>
                <a:lnTo>
                  <a:pt x="153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52400" y="22381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52400" y="22381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3485880" y="223812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28" y="0"/>
                </a:lnTo>
                <a:lnTo>
                  <a:pt x="28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3495600" y="2238120"/>
            <a:ext cx="2429280" cy="10080"/>
          </a:xfrm>
          <a:custGeom>
            <a:avLst/>
            <a:gdLst/>
            <a:ahLst/>
            <a:rect l="0" t="0" r="r" b="b"/>
            <a:pathLst>
              <a:path w="6748" h="28">
                <a:moveTo>
                  <a:pt x="0" y="0"/>
                </a:moveTo>
                <a:lnTo>
                  <a:pt x="6748" y="0"/>
                </a:lnTo>
                <a:lnTo>
                  <a:pt x="6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5914800" y="223812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28" y="0"/>
                </a:lnTo>
                <a:lnTo>
                  <a:pt x="28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5924520" y="2238120"/>
            <a:ext cx="5524560" cy="10080"/>
          </a:xfrm>
          <a:custGeom>
            <a:avLst/>
            <a:gdLst/>
            <a:ahLst/>
            <a:rect l="0" t="0" r="r" b="b"/>
            <a:pathLst>
              <a:path w="15346" h="28">
                <a:moveTo>
                  <a:pt x="0" y="0"/>
                </a:moveTo>
                <a:lnTo>
                  <a:pt x="15346" y="0"/>
                </a:lnTo>
                <a:lnTo>
                  <a:pt x="153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1439360" y="2238120"/>
            <a:ext cx="9720" cy="552960"/>
          </a:xfrm>
          <a:custGeom>
            <a:avLst/>
            <a:gdLst/>
            <a:ahLst/>
            <a:rect l="0" t="0" r="r" b="b"/>
            <a:pathLst>
              <a:path w="27" h="1536">
                <a:moveTo>
                  <a:pt x="0" y="0"/>
                </a:moveTo>
                <a:lnTo>
                  <a:pt x="27" y="0"/>
                </a:lnTo>
                <a:lnTo>
                  <a:pt x="27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52400" y="278100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3495600" y="2781000"/>
            <a:ext cx="2429280" cy="10080"/>
          </a:xfrm>
          <a:custGeom>
            <a:avLst/>
            <a:gdLst/>
            <a:ahLst/>
            <a:rect l="0" t="0" r="r" b="b"/>
            <a:pathLst>
              <a:path w="6748" h="28">
                <a:moveTo>
                  <a:pt x="0" y="0"/>
                </a:moveTo>
                <a:lnTo>
                  <a:pt x="6748" y="0"/>
                </a:lnTo>
                <a:lnTo>
                  <a:pt x="6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5924520" y="2781000"/>
            <a:ext cx="5524560" cy="10080"/>
          </a:xfrm>
          <a:custGeom>
            <a:avLst/>
            <a:gdLst/>
            <a:ahLst/>
            <a:rect l="0" t="0" r="r" b="b"/>
            <a:pathLst>
              <a:path w="15346" h="28">
                <a:moveTo>
                  <a:pt x="0" y="0"/>
                </a:moveTo>
                <a:lnTo>
                  <a:pt x="15346" y="0"/>
                </a:lnTo>
                <a:lnTo>
                  <a:pt x="153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752400" y="279072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485880" y="279072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914800" y="279072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1439360" y="279072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52400" y="4152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75240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3485880" y="41526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3495600" y="4143240"/>
            <a:ext cx="2429280" cy="9720"/>
          </a:xfrm>
          <a:custGeom>
            <a:avLst/>
            <a:gdLst/>
            <a:ahLst/>
            <a:rect l="0" t="0" r="r" b="b"/>
            <a:pathLst>
              <a:path w="6748" h="27">
                <a:moveTo>
                  <a:pt x="0" y="0"/>
                </a:moveTo>
                <a:lnTo>
                  <a:pt x="6748" y="0"/>
                </a:lnTo>
                <a:lnTo>
                  <a:pt x="6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5914800" y="41526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5924520" y="4143240"/>
            <a:ext cx="5524560" cy="9720"/>
          </a:xfrm>
          <a:custGeom>
            <a:avLst/>
            <a:gdLst/>
            <a:ahLst/>
            <a:rect l="0" t="0" r="r" b="b"/>
            <a:pathLst>
              <a:path w="15346" h="27">
                <a:moveTo>
                  <a:pt x="0" y="0"/>
                </a:moveTo>
                <a:lnTo>
                  <a:pt x="15346" y="0"/>
                </a:lnTo>
                <a:lnTo>
                  <a:pt x="153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439360" y="41526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752400" y="509580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48588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495600" y="5095800"/>
            <a:ext cx="2429280" cy="9720"/>
          </a:xfrm>
          <a:custGeom>
            <a:avLst/>
            <a:gdLst/>
            <a:ahLst/>
            <a:rect l="0" t="0" r="r" b="b"/>
            <a:pathLst>
              <a:path w="6748" h="27">
                <a:moveTo>
                  <a:pt x="0" y="0"/>
                </a:moveTo>
                <a:lnTo>
                  <a:pt x="6748" y="0"/>
                </a:lnTo>
                <a:lnTo>
                  <a:pt x="6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59148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924520" y="5095800"/>
            <a:ext cx="5524560" cy="9720"/>
          </a:xfrm>
          <a:custGeom>
            <a:avLst/>
            <a:gdLst/>
            <a:ahLst/>
            <a:rect l="0" t="0" r="r" b="b"/>
            <a:pathLst>
              <a:path w="15346" h="27">
                <a:moveTo>
                  <a:pt x="0" y="0"/>
                </a:moveTo>
                <a:lnTo>
                  <a:pt x="15346" y="0"/>
                </a:lnTo>
                <a:lnTo>
                  <a:pt x="153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52400" y="604836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3495600" y="6048360"/>
            <a:ext cx="2429280" cy="9720"/>
          </a:xfrm>
          <a:custGeom>
            <a:avLst/>
            <a:gdLst/>
            <a:ahLst/>
            <a:rect l="0" t="0" r="r" b="b"/>
            <a:pathLst>
              <a:path w="6748" h="27">
                <a:moveTo>
                  <a:pt x="0" y="0"/>
                </a:moveTo>
                <a:lnTo>
                  <a:pt x="6748" y="0"/>
                </a:lnTo>
                <a:lnTo>
                  <a:pt x="6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5924520" y="6048360"/>
            <a:ext cx="5524560" cy="9720"/>
          </a:xfrm>
          <a:custGeom>
            <a:avLst/>
            <a:gdLst/>
            <a:ahLst/>
            <a:rect l="0" t="0" r="r" b="b"/>
            <a:pathLst>
              <a:path w="15346" h="27">
                <a:moveTo>
                  <a:pt x="0" y="0"/>
                </a:moveTo>
                <a:lnTo>
                  <a:pt x="15346" y="0"/>
                </a:lnTo>
                <a:lnTo>
                  <a:pt x="153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47720" y="775440"/>
            <a:ext cx="528588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Data Integration Layers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47720" y="1694520"/>
            <a:ext cx="1016748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To build a holistic view, three distinct data domains are integrated: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880920" y="2324160"/>
            <a:ext cx="7671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3622320" y="2324160"/>
            <a:ext cx="1070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Sources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051240" y="2324160"/>
            <a:ext cx="1617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Key Entities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880920" y="3076560"/>
            <a:ext cx="2059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Organizational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880920" y="3486240"/>
            <a:ext cx="10890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Context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622320" y="3076560"/>
            <a:ext cx="1867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Synthetic infra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622320" y="3486240"/>
            <a:ext cx="919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in repo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6051240" y="2867040"/>
            <a:ext cx="4015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Apps, Build Artifacts, Compute,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6051240" y="3276720"/>
            <a:ext cx="4446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Endpoints, Identities, IAM Policies,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051240" y="3695760"/>
            <a:ext cx="1876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Cloud Services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880920" y="4438800"/>
            <a:ext cx="2512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Vulnerability Intel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3622320" y="4228920"/>
            <a:ext cx="19954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Local NVD repo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622320" y="4648320"/>
            <a:ext cx="1290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(</a:t>
            </a:r>
            <a:r>
              <a:rPr b="0" lang="en-US" sz="2170" spc="-1" strike="noStrike">
                <a:solidFill>
                  <a:srgbClr val="0041c6"/>
                </a:solidFill>
                <a:latin typeface="NotoSans"/>
                <a:ea typeface="NotoSans"/>
              </a:rPr>
              <a:t>cvelistV5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051240" y="4438800"/>
            <a:ext cx="4793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CVEs, CVSS, CWEs, Vendors,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880920" y="5181480"/>
            <a:ext cx="915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Threat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880920" y="5600520"/>
            <a:ext cx="1646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Intelligence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622320" y="5391000"/>
            <a:ext cx="1803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CISA KEV feed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051240" y="5181480"/>
            <a:ext cx="4249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Known-exploited ﬂag, due dates,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051240" y="5600520"/>
            <a:ext cx="1960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catalog linkage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47720" y="727560"/>
            <a:ext cx="6983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Ingestion Snapshot (NVD + KEV)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047600" y="2361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47720" y="1637280"/>
            <a:ext cx="37285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What we ingest and how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300320" y="2209680"/>
            <a:ext cx="9493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NVD CVEs: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Read local JSONs under </a:t>
            </a:r>
            <a:r>
              <a:rPr b="0" lang="en-US" sz="2170" spc="-1" strike="noStrike">
                <a:solidFill>
                  <a:srgbClr val="0041c6"/>
                </a:solidFill>
                <a:latin typeface="NotoSans"/>
                <a:ea typeface="NotoSans"/>
              </a:rPr>
              <a:t>cvelistV5/cves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; ingest only PUBLISHED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304640" y="3085920"/>
            <a:ext cx="2439000" cy="362160"/>
          </a:xfrm>
          <a:custGeom>
            <a:avLst/>
            <a:gdLst/>
            <a:ahLst/>
            <a:rect l="0" t="0" r="r" b="b"/>
            <a:pathLst>
              <a:path w="6775" h="1006">
                <a:moveTo>
                  <a:pt x="0" y="847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616" y="0"/>
                </a:lnTo>
                <a:cubicBezTo>
                  <a:pt x="6626" y="0"/>
                  <a:pt x="6637" y="1"/>
                  <a:pt x="6647" y="3"/>
                </a:cubicBezTo>
                <a:cubicBezTo>
                  <a:pt x="6657" y="5"/>
                  <a:pt x="6667" y="8"/>
                  <a:pt x="6677" y="12"/>
                </a:cubicBezTo>
                <a:cubicBezTo>
                  <a:pt x="6686" y="16"/>
                  <a:pt x="6695" y="21"/>
                  <a:pt x="6704" y="27"/>
                </a:cubicBezTo>
                <a:cubicBezTo>
                  <a:pt x="6713" y="33"/>
                  <a:pt x="6721" y="39"/>
                  <a:pt x="6728" y="46"/>
                </a:cubicBezTo>
                <a:cubicBezTo>
                  <a:pt x="6735" y="54"/>
                  <a:pt x="6742" y="62"/>
                  <a:pt x="6748" y="71"/>
                </a:cubicBezTo>
                <a:cubicBezTo>
                  <a:pt x="6754" y="79"/>
                  <a:pt x="6759" y="88"/>
                  <a:pt x="6763" y="98"/>
                </a:cubicBezTo>
                <a:cubicBezTo>
                  <a:pt x="6767" y="108"/>
                  <a:pt x="6770" y="118"/>
                  <a:pt x="6772" y="128"/>
                </a:cubicBezTo>
                <a:cubicBezTo>
                  <a:pt x="6774" y="138"/>
                  <a:pt x="6775" y="148"/>
                  <a:pt x="6775" y="159"/>
                </a:cubicBezTo>
                <a:lnTo>
                  <a:pt x="6775" y="847"/>
                </a:lnTo>
                <a:cubicBezTo>
                  <a:pt x="6775" y="857"/>
                  <a:pt x="6774" y="867"/>
                  <a:pt x="6772" y="878"/>
                </a:cubicBezTo>
                <a:cubicBezTo>
                  <a:pt x="6770" y="888"/>
                  <a:pt x="6767" y="898"/>
                  <a:pt x="6763" y="907"/>
                </a:cubicBezTo>
                <a:cubicBezTo>
                  <a:pt x="6759" y="917"/>
                  <a:pt x="6754" y="926"/>
                  <a:pt x="6748" y="935"/>
                </a:cubicBezTo>
                <a:cubicBezTo>
                  <a:pt x="6742" y="944"/>
                  <a:pt x="6735" y="952"/>
                  <a:pt x="6728" y="959"/>
                </a:cubicBezTo>
                <a:cubicBezTo>
                  <a:pt x="6721" y="966"/>
                  <a:pt x="6713" y="973"/>
                  <a:pt x="6704" y="980"/>
                </a:cubicBezTo>
                <a:cubicBezTo>
                  <a:pt x="6695" y="985"/>
                  <a:pt x="6686" y="990"/>
                  <a:pt x="6677" y="994"/>
                </a:cubicBezTo>
                <a:cubicBezTo>
                  <a:pt x="6667" y="998"/>
                  <a:pt x="6657" y="1001"/>
                  <a:pt x="6647" y="1003"/>
                </a:cubicBezTo>
                <a:cubicBezTo>
                  <a:pt x="6637" y="1005"/>
                  <a:pt x="6626" y="1006"/>
                  <a:pt x="6616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3"/>
                  <a:pt x="54" y="966"/>
                  <a:pt x="47" y="959"/>
                </a:cubicBezTo>
                <a:cubicBezTo>
                  <a:pt x="39" y="952"/>
                  <a:pt x="33" y="944"/>
                  <a:pt x="27" y="935"/>
                </a:cubicBezTo>
                <a:cubicBezTo>
                  <a:pt x="21" y="926"/>
                  <a:pt x="16" y="917"/>
                  <a:pt x="12" y="907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7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300320" y="2628720"/>
            <a:ext cx="9574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entries; consolidate CNA + ADP metrics; capture CVE/CWE and link CVEs to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393920" y="313740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Vendor → Product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4248000" y="3085920"/>
            <a:ext cx="1181520" cy="362160"/>
          </a:xfrm>
          <a:custGeom>
            <a:avLst/>
            <a:gdLst/>
            <a:ahLst/>
            <a:rect l="0" t="0" r="r" b="b"/>
            <a:pathLst>
              <a:path w="3282" h="1006">
                <a:moveTo>
                  <a:pt x="0" y="847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123" y="0"/>
                </a:lnTo>
                <a:cubicBezTo>
                  <a:pt x="3133" y="0"/>
                  <a:pt x="3144" y="1"/>
                  <a:pt x="3154" y="3"/>
                </a:cubicBezTo>
                <a:cubicBezTo>
                  <a:pt x="3164" y="5"/>
                  <a:pt x="3174" y="8"/>
                  <a:pt x="3184" y="12"/>
                </a:cubicBezTo>
                <a:cubicBezTo>
                  <a:pt x="3193" y="16"/>
                  <a:pt x="3203" y="21"/>
                  <a:pt x="3211" y="27"/>
                </a:cubicBezTo>
                <a:cubicBezTo>
                  <a:pt x="3220" y="33"/>
                  <a:pt x="3228" y="39"/>
                  <a:pt x="3235" y="46"/>
                </a:cubicBezTo>
                <a:cubicBezTo>
                  <a:pt x="3243" y="54"/>
                  <a:pt x="3249" y="62"/>
                  <a:pt x="3255" y="71"/>
                </a:cubicBezTo>
                <a:cubicBezTo>
                  <a:pt x="3261" y="79"/>
                  <a:pt x="3266" y="88"/>
                  <a:pt x="3270" y="98"/>
                </a:cubicBezTo>
                <a:cubicBezTo>
                  <a:pt x="3274" y="108"/>
                  <a:pt x="3277" y="118"/>
                  <a:pt x="3279" y="128"/>
                </a:cubicBezTo>
                <a:cubicBezTo>
                  <a:pt x="3281" y="138"/>
                  <a:pt x="3282" y="148"/>
                  <a:pt x="3282" y="159"/>
                </a:cubicBezTo>
                <a:lnTo>
                  <a:pt x="3282" y="847"/>
                </a:lnTo>
                <a:cubicBezTo>
                  <a:pt x="3282" y="857"/>
                  <a:pt x="3281" y="867"/>
                  <a:pt x="3279" y="878"/>
                </a:cubicBezTo>
                <a:cubicBezTo>
                  <a:pt x="3277" y="888"/>
                  <a:pt x="3274" y="898"/>
                  <a:pt x="3270" y="907"/>
                </a:cubicBezTo>
                <a:cubicBezTo>
                  <a:pt x="3266" y="917"/>
                  <a:pt x="3261" y="926"/>
                  <a:pt x="3255" y="935"/>
                </a:cubicBezTo>
                <a:cubicBezTo>
                  <a:pt x="3249" y="944"/>
                  <a:pt x="3243" y="952"/>
                  <a:pt x="3235" y="959"/>
                </a:cubicBezTo>
                <a:cubicBezTo>
                  <a:pt x="3228" y="966"/>
                  <a:pt x="3220" y="973"/>
                  <a:pt x="3211" y="980"/>
                </a:cubicBezTo>
                <a:cubicBezTo>
                  <a:pt x="3203" y="985"/>
                  <a:pt x="3193" y="990"/>
                  <a:pt x="3184" y="994"/>
                </a:cubicBezTo>
                <a:cubicBezTo>
                  <a:pt x="3174" y="998"/>
                  <a:pt x="3164" y="1001"/>
                  <a:pt x="3154" y="1003"/>
                </a:cubicBezTo>
                <a:cubicBezTo>
                  <a:pt x="3144" y="1005"/>
                  <a:pt x="3133" y="1006"/>
                  <a:pt x="3123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7" y="1001"/>
                  <a:pt x="108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3"/>
                  <a:pt x="54" y="966"/>
                  <a:pt x="46" y="959"/>
                </a:cubicBezTo>
                <a:cubicBezTo>
                  <a:pt x="39" y="952"/>
                  <a:pt x="32" y="944"/>
                  <a:pt x="27" y="935"/>
                </a:cubicBezTo>
                <a:cubicBezTo>
                  <a:pt x="21" y="926"/>
                  <a:pt x="16" y="917"/>
                  <a:pt x="12" y="907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7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741480" y="3038400"/>
            <a:ext cx="509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via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345920" y="3137400"/>
            <a:ext cx="98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AFFECTS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047600" y="36954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425560" y="30384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300320" y="3543120"/>
            <a:ext cx="8329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Performance &amp; Idempotency: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Use batched, transactional loads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0105920" y="4000320"/>
            <a:ext cx="1028880" cy="362160"/>
          </a:xfrm>
          <a:custGeom>
            <a:avLst/>
            <a:gdLst/>
            <a:ahLst/>
            <a:rect l="0" t="0" r="r" b="b"/>
            <a:pathLst>
              <a:path w="2858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00" y="0"/>
                </a:lnTo>
                <a:cubicBezTo>
                  <a:pt x="2710" y="0"/>
                  <a:pt x="2720" y="1"/>
                  <a:pt x="2731" y="3"/>
                </a:cubicBezTo>
                <a:cubicBezTo>
                  <a:pt x="2741" y="5"/>
                  <a:pt x="2751" y="8"/>
                  <a:pt x="2760" y="12"/>
                </a:cubicBezTo>
                <a:cubicBezTo>
                  <a:pt x="2770" y="16"/>
                  <a:pt x="2779" y="21"/>
                  <a:pt x="2788" y="27"/>
                </a:cubicBezTo>
                <a:cubicBezTo>
                  <a:pt x="2796" y="33"/>
                  <a:pt x="2804" y="39"/>
                  <a:pt x="2812" y="46"/>
                </a:cubicBezTo>
                <a:cubicBezTo>
                  <a:pt x="2819" y="54"/>
                  <a:pt x="2826" y="62"/>
                  <a:pt x="2832" y="71"/>
                </a:cubicBezTo>
                <a:cubicBezTo>
                  <a:pt x="2837" y="79"/>
                  <a:pt x="2842" y="88"/>
                  <a:pt x="2846" y="98"/>
                </a:cubicBezTo>
                <a:cubicBezTo>
                  <a:pt x="2850" y="108"/>
                  <a:pt x="2853" y="118"/>
                  <a:pt x="2855" y="128"/>
                </a:cubicBezTo>
                <a:cubicBezTo>
                  <a:pt x="2857" y="138"/>
                  <a:pt x="2858" y="148"/>
                  <a:pt x="2858" y="159"/>
                </a:cubicBezTo>
                <a:lnTo>
                  <a:pt x="2858" y="848"/>
                </a:lnTo>
                <a:cubicBezTo>
                  <a:pt x="2858" y="858"/>
                  <a:pt x="2857" y="868"/>
                  <a:pt x="2855" y="879"/>
                </a:cubicBezTo>
                <a:cubicBezTo>
                  <a:pt x="2853" y="889"/>
                  <a:pt x="2850" y="899"/>
                  <a:pt x="2846" y="908"/>
                </a:cubicBezTo>
                <a:cubicBezTo>
                  <a:pt x="2842" y="918"/>
                  <a:pt x="2837" y="927"/>
                  <a:pt x="2832" y="936"/>
                </a:cubicBezTo>
                <a:cubicBezTo>
                  <a:pt x="2826" y="945"/>
                  <a:pt x="2819" y="953"/>
                  <a:pt x="2812" y="960"/>
                </a:cubicBezTo>
                <a:cubicBezTo>
                  <a:pt x="2804" y="967"/>
                  <a:pt x="2796" y="974"/>
                  <a:pt x="2788" y="980"/>
                </a:cubicBezTo>
                <a:cubicBezTo>
                  <a:pt x="2779" y="985"/>
                  <a:pt x="2770" y="990"/>
                  <a:pt x="2760" y="994"/>
                </a:cubicBezTo>
                <a:cubicBezTo>
                  <a:pt x="2751" y="998"/>
                  <a:pt x="2741" y="1001"/>
                  <a:pt x="2731" y="1003"/>
                </a:cubicBezTo>
                <a:cubicBezTo>
                  <a:pt x="2720" y="1005"/>
                  <a:pt x="2710" y="1006"/>
                  <a:pt x="2700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300320" y="3952800"/>
            <a:ext cx="88020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(UNWIND/MERGE semantics) and create uniqueness constraints for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0197000" y="4051800"/>
            <a:ext cx="844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CVE.id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304640" y="4429080"/>
            <a:ext cx="1029240" cy="362160"/>
          </a:xfrm>
          <a:custGeom>
            <a:avLst/>
            <a:gdLst/>
            <a:ahLst/>
            <a:rect l="0" t="0" r="r" b="b"/>
            <a:pathLst>
              <a:path w="2859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700" y="0"/>
                </a:lnTo>
                <a:cubicBezTo>
                  <a:pt x="2710" y="0"/>
                  <a:pt x="2721" y="1"/>
                  <a:pt x="2731" y="3"/>
                </a:cubicBezTo>
                <a:cubicBezTo>
                  <a:pt x="2741" y="5"/>
                  <a:pt x="2751" y="8"/>
                  <a:pt x="2761" y="12"/>
                </a:cubicBezTo>
                <a:cubicBezTo>
                  <a:pt x="2770" y="16"/>
                  <a:pt x="2780" y="21"/>
                  <a:pt x="2788" y="26"/>
                </a:cubicBezTo>
                <a:cubicBezTo>
                  <a:pt x="2797" y="32"/>
                  <a:pt x="2805" y="39"/>
                  <a:pt x="2812" y="46"/>
                </a:cubicBezTo>
                <a:cubicBezTo>
                  <a:pt x="2820" y="53"/>
                  <a:pt x="2826" y="62"/>
                  <a:pt x="2832" y="70"/>
                </a:cubicBezTo>
                <a:cubicBezTo>
                  <a:pt x="2838" y="79"/>
                  <a:pt x="2843" y="88"/>
                  <a:pt x="2847" y="98"/>
                </a:cubicBezTo>
                <a:cubicBezTo>
                  <a:pt x="2851" y="107"/>
                  <a:pt x="2854" y="117"/>
                  <a:pt x="2856" y="127"/>
                </a:cubicBezTo>
                <a:cubicBezTo>
                  <a:pt x="2858" y="138"/>
                  <a:pt x="2859" y="148"/>
                  <a:pt x="2859" y="158"/>
                </a:cubicBezTo>
                <a:lnTo>
                  <a:pt x="2859" y="847"/>
                </a:lnTo>
                <a:cubicBezTo>
                  <a:pt x="2859" y="858"/>
                  <a:pt x="2858" y="868"/>
                  <a:pt x="2856" y="878"/>
                </a:cubicBezTo>
                <a:cubicBezTo>
                  <a:pt x="2854" y="888"/>
                  <a:pt x="2851" y="898"/>
                  <a:pt x="2847" y="908"/>
                </a:cubicBezTo>
                <a:cubicBezTo>
                  <a:pt x="2843" y="918"/>
                  <a:pt x="2838" y="927"/>
                  <a:pt x="2832" y="935"/>
                </a:cubicBezTo>
                <a:cubicBezTo>
                  <a:pt x="2826" y="944"/>
                  <a:pt x="2820" y="952"/>
                  <a:pt x="2812" y="960"/>
                </a:cubicBezTo>
                <a:cubicBezTo>
                  <a:pt x="2805" y="967"/>
                  <a:pt x="2797" y="973"/>
                  <a:pt x="2788" y="979"/>
                </a:cubicBezTo>
                <a:cubicBezTo>
                  <a:pt x="2780" y="985"/>
                  <a:pt x="2770" y="990"/>
                  <a:pt x="2761" y="994"/>
                </a:cubicBezTo>
                <a:cubicBezTo>
                  <a:pt x="2751" y="998"/>
                  <a:pt x="2741" y="1001"/>
                  <a:pt x="2731" y="1003"/>
                </a:cubicBezTo>
                <a:cubicBezTo>
                  <a:pt x="2721" y="1005"/>
                  <a:pt x="2710" y="1006"/>
                  <a:pt x="2700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3"/>
                  <a:pt x="54" y="967"/>
                  <a:pt x="47" y="960"/>
                </a:cubicBezTo>
                <a:cubicBezTo>
                  <a:pt x="39" y="952"/>
                  <a:pt x="33" y="944"/>
                  <a:pt x="27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1136240" y="39528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,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393920" y="4480560"/>
            <a:ext cx="844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CWE.id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476440" y="4429080"/>
            <a:ext cx="1743480" cy="362160"/>
          </a:xfrm>
          <a:custGeom>
            <a:avLst/>
            <a:gdLst/>
            <a:ahLst/>
            <a:rect l="0" t="0" r="r" b="b"/>
            <a:pathLst>
              <a:path w="4843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3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84" y="0"/>
                </a:lnTo>
                <a:cubicBezTo>
                  <a:pt x="4694" y="0"/>
                  <a:pt x="4705" y="1"/>
                  <a:pt x="4715" y="3"/>
                </a:cubicBezTo>
                <a:cubicBezTo>
                  <a:pt x="4725" y="5"/>
                  <a:pt x="4735" y="8"/>
                  <a:pt x="4745" y="12"/>
                </a:cubicBezTo>
                <a:cubicBezTo>
                  <a:pt x="4754" y="16"/>
                  <a:pt x="4763" y="21"/>
                  <a:pt x="4772" y="26"/>
                </a:cubicBezTo>
                <a:cubicBezTo>
                  <a:pt x="4781" y="32"/>
                  <a:pt x="4789" y="39"/>
                  <a:pt x="4796" y="46"/>
                </a:cubicBezTo>
                <a:cubicBezTo>
                  <a:pt x="4803" y="53"/>
                  <a:pt x="4810" y="62"/>
                  <a:pt x="4816" y="70"/>
                </a:cubicBezTo>
                <a:cubicBezTo>
                  <a:pt x="4822" y="79"/>
                  <a:pt x="4826" y="88"/>
                  <a:pt x="4830" y="98"/>
                </a:cubicBezTo>
                <a:cubicBezTo>
                  <a:pt x="4834" y="107"/>
                  <a:pt x="4837" y="117"/>
                  <a:pt x="4839" y="127"/>
                </a:cubicBezTo>
                <a:cubicBezTo>
                  <a:pt x="4842" y="138"/>
                  <a:pt x="4843" y="148"/>
                  <a:pt x="4843" y="158"/>
                </a:cubicBezTo>
                <a:lnTo>
                  <a:pt x="4843" y="847"/>
                </a:lnTo>
                <a:cubicBezTo>
                  <a:pt x="4843" y="858"/>
                  <a:pt x="4842" y="868"/>
                  <a:pt x="4839" y="878"/>
                </a:cubicBezTo>
                <a:cubicBezTo>
                  <a:pt x="4837" y="888"/>
                  <a:pt x="4834" y="898"/>
                  <a:pt x="4830" y="908"/>
                </a:cubicBezTo>
                <a:cubicBezTo>
                  <a:pt x="4826" y="918"/>
                  <a:pt x="4822" y="927"/>
                  <a:pt x="4816" y="935"/>
                </a:cubicBezTo>
                <a:cubicBezTo>
                  <a:pt x="4810" y="944"/>
                  <a:pt x="4803" y="952"/>
                  <a:pt x="4796" y="960"/>
                </a:cubicBezTo>
                <a:cubicBezTo>
                  <a:pt x="4789" y="967"/>
                  <a:pt x="4781" y="973"/>
                  <a:pt x="4772" y="979"/>
                </a:cubicBezTo>
                <a:cubicBezTo>
                  <a:pt x="4763" y="985"/>
                  <a:pt x="4754" y="990"/>
                  <a:pt x="4745" y="994"/>
                </a:cubicBezTo>
                <a:cubicBezTo>
                  <a:pt x="4735" y="998"/>
                  <a:pt x="4725" y="1001"/>
                  <a:pt x="4715" y="1003"/>
                </a:cubicBezTo>
                <a:cubicBezTo>
                  <a:pt x="4705" y="1005"/>
                  <a:pt x="4694" y="1006"/>
                  <a:pt x="4684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2" y="973"/>
                  <a:pt x="54" y="967"/>
                  <a:pt x="46" y="960"/>
                </a:cubicBezTo>
                <a:cubicBezTo>
                  <a:pt x="39" y="952"/>
                  <a:pt x="32" y="944"/>
                  <a:pt x="26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333160" y="438156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572920" y="448056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Vendor.name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4362120" y="4429080"/>
            <a:ext cx="1877040" cy="362160"/>
          </a:xfrm>
          <a:custGeom>
            <a:avLst/>
            <a:gdLst/>
            <a:ahLst/>
            <a:rect l="0" t="0" r="r" b="b"/>
            <a:pathLst>
              <a:path w="5214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9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55" y="0"/>
                </a:lnTo>
                <a:cubicBezTo>
                  <a:pt x="5065" y="0"/>
                  <a:pt x="5076" y="1"/>
                  <a:pt x="5086" y="3"/>
                </a:cubicBezTo>
                <a:cubicBezTo>
                  <a:pt x="5096" y="5"/>
                  <a:pt x="5106" y="8"/>
                  <a:pt x="5116" y="12"/>
                </a:cubicBezTo>
                <a:cubicBezTo>
                  <a:pt x="5125" y="16"/>
                  <a:pt x="5134" y="21"/>
                  <a:pt x="5143" y="26"/>
                </a:cubicBezTo>
                <a:cubicBezTo>
                  <a:pt x="5152" y="32"/>
                  <a:pt x="5160" y="39"/>
                  <a:pt x="5167" y="46"/>
                </a:cubicBezTo>
                <a:cubicBezTo>
                  <a:pt x="5175" y="53"/>
                  <a:pt x="5181" y="62"/>
                  <a:pt x="5187" y="70"/>
                </a:cubicBezTo>
                <a:cubicBezTo>
                  <a:pt x="5193" y="79"/>
                  <a:pt x="5198" y="88"/>
                  <a:pt x="5202" y="98"/>
                </a:cubicBezTo>
                <a:cubicBezTo>
                  <a:pt x="5206" y="107"/>
                  <a:pt x="5209" y="117"/>
                  <a:pt x="5211" y="127"/>
                </a:cubicBezTo>
                <a:cubicBezTo>
                  <a:pt x="5213" y="138"/>
                  <a:pt x="5214" y="148"/>
                  <a:pt x="5214" y="158"/>
                </a:cubicBezTo>
                <a:lnTo>
                  <a:pt x="5214" y="847"/>
                </a:lnTo>
                <a:cubicBezTo>
                  <a:pt x="5214" y="858"/>
                  <a:pt x="5213" y="868"/>
                  <a:pt x="5211" y="878"/>
                </a:cubicBezTo>
                <a:cubicBezTo>
                  <a:pt x="5209" y="888"/>
                  <a:pt x="5206" y="898"/>
                  <a:pt x="5202" y="908"/>
                </a:cubicBezTo>
                <a:cubicBezTo>
                  <a:pt x="5198" y="918"/>
                  <a:pt x="5193" y="927"/>
                  <a:pt x="5187" y="935"/>
                </a:cubicBezTo>
                <a:cubicBezTo>
                  <a:pt x="5181" y="944"/>
                  <a:pt x="5175" y="952"/>
                  <a:pt x="5167" y="960"/>
                </a:cubicBezTo>
                <a:cubicBezTo>
                  <a:pt x="5160" y="967"/>
                  <a:pt x="5152" y="973"/>
                  <a:pt x="5143" y="979"/>
                </a:cubicBezTo>
                <a:cubicBezTo>
                  <a:pt x="5134" y="985"/>
                  <a:pt x="5125" y="990"/>
                  <a:pt x="5116" y="994"/>
                </a:cubicBezTo>
                <a:cubicBezTo>
                  <a:pt x="5106" y="998"/>
                  <a:pt x="5096" y="1001"/>
                  <a:pt x="5086" y="1003"/>
                </a:cubicBezTo>
                <a:cubicBezTo>
                  <a:pt x="5076" y="1005"/>
                  <a:pt x="5065" y="1006"/>
                  <a:pt x="5055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3"/>
                  <a:pt x="54" y="967"/>
                  <a:pt x="47" y="960"/>
                </a:cubicBezTo>
                <a:cubicBezTo>
                  <a:pt x="40" y="952"/>
                  <a:pt x="33" y="944"/>
                  <a:pt x="27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9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216320" y="438156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456080" y="4480560"/>
            <a:ext cx="168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Product.name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047600" y="5028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240240" y="438156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300320" y="4876920"/>
            <a:ext cx="8979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KEV Enrichment: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Fetch the oﬃcial CISA KEV feed; ﬂag CVEs as known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8476920" y="5343480"/>
            <a:ext cx="1181520" cy="362160"/>
          </a:xfrm>
          <a:custGeom>
            <a:avLst/>
            <a:gdLst/>
            <a:ahLst/>
            <a:rect l="0" t="0" r="r" b="b"/>
            <a:pathLst>
              <a:path w="3282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9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123" y="0"/>
                </a:lnTo>
                <a:cubicBezTo>
                  <a:pt x="3134" y="0"/>
                  <a:pt x="3144" y="1"/>
                  <a:pt x="3154" y="3"/>
                </a:cubicBezTo>
                <a:cubicBezTo>
                  <a:pt x="3165" y="5"/>
                  <a:pt x="3175" y="8"/>
                  <a:pt x="3184" y="12"/>
                </a:cubicBezTo>
                <a:cubicBezTo>
                  <a:pt x="3194" y="16"/>
                  <a:pt x="3203" y="21"/>
                  <a:pt x="3212" y="26"/>
                </a:cubicBezTo>
                <a:cubicBezTo>
                  <a:pt x="3220" y="32"/>
                  <a:pt x="3228" y="39"/>
                  <a:pt x="3236" y="46"/>
                </a:cubicBezTo>
                <a:cubicBezTo>
                  <a:pt x="3243" y="53"/>
                  <a:pt x="3250" y="62"/>
                  <a:pt x="3255" y="70"/>
                </a:cubicBezTo>
                <a:cubicBezTo>
                  <a:pt x="3261" y="79"/>
                  <a:pt x="3266" y="88"/>
                  <a:pt x="3270" y="98"/>
                </a:cubicBezTo>
                <a:cubicBezTo>
                  <a:pt x="3274" y="107"/>
                  <a:pt x="3277" y="117"/>
                  <a:pt x="3279" y="127"/>
                </a:cubicBezTo>
                <a:cubicBezTo>
                  <a:pt x="3281" y="138"/>
                  <a:pt x="3282" y="148"/>
                  <a:pt x="3282" y="158"/>
                </a:cubicBezTo>
                <a:lnTo>
                  <a:pt x="3282" y="847"/>
                </a:lnTo>
                <a:cubicBezTo>
                  <a:pt x="3282" y="858"/>
                  <a:pt x="3281" y="868"/>
                  <a:pt x="3279" y="878"/>
                </a:cubicBezTo>
                <a:cubicBezTo>
                  <a:pt x="3277" y="888"/>
                  <a:pt x="3274" y="898"/>
                  <a:pt x="3270" y="908"/>
                </a:cubicBezTo>
                <a:cubicBezTo>
                  <a:pt x="3266" y="918"/>
                  <a:pt x="3261" y="927"/>
                  <a:pt x="3255" y="935"/>
                </a:cubicBezTo>
                <a:cubicBezTo>
                  <a:pt x="3250" y="944"/>
                  <a:pt x="3243" y="952"/>
                  <a:pt x="3236" y="960"/>
                </a:cubicBezTo>
                <a:cubicBezTo>
                  <a:pt x="3228" y="967"/>
                  <a:pt x="3220" y="973"/>
                  <a:pt x="3212" y="979"/>
                </a:cubicBezTo>
                <a:cubicBezTo>
                  <a:pt x="3203" y="985"/>
                  <a:pt x="3194" y="990"/>
                  <a:pt x="3184" y="994"/>
                </a:cubicBezTo>
                <a:cubicBezTo>
                  <a:pt x="3175" y="998"/>
                  <a:pt x="3165" y="1001"/>
                  <a:pt x="3154" y="1003"/>
                </a:cubicBezTo>
                <a:cubicBezTo>
                  <a:pt x="3144" y="1005"/>
                  <a:pt x="3134" y="1006"/>
                  <a:pt x="312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3"/>
                  <a:pt x="54" y="967"/>
                  <a:pt x="47" y="960"/>
                </a:cubicBezTo>
                <a:cubicBezTo>
                  <a:pt x="40" y="952"/>
                  <a:pt x="33" y="944"/>
                  <a:pt x="27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9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300320" y="5295960"/>
            <a:ext cx="7175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exploited; add due/added dates; and link each CVE to a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8574480" y="5394960"/>
            <a:ext cx="98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Catalog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654480" y="5295960"/>
            <a:ext cx="118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node for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300320" y="5724360"/>
            <a:ext cx="1508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traceability.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8" name="" descr=""/>
          <p:cNvPicPr/>
          <p:nvPr/>
        </p:nvPicPr>
        <p:blipFill>
          <a:blip r:embed="rId1"/>
          <a:stretch/>
        </p:blipFill>
        <p:spPr>
          <a:xfrm>
            <a:off x="5486400" y="714240"/>
            <a:ext cx="6705360" cy="5428800"/>
          </a:xfrm>
          <a:prstGeom prst="rect">
            <a:avLst/>
          </a:prstGeom>
          <a:ln w="0">
            <a:noFill/>
          </a:ln>
        </p:spPr>
      </p:pic>
      <p:sp>
        <p:nvSpPr>
          <p:cNvPr id="219" name=""/>
          <p:cNvSpPr txBox="1"/>
          <p:nvPr/>
        </p:nvSpPr>
        <p:spPr>
          <a:xfrm>
            <a:off x="747720" y="1404000"/>
            <a:ext cx="301680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The Resulting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747720" y="1956240"/>
            <a:ext cx="172296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Schema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747720" y="2875680"/>
            <a:ext cx="385524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The graph connects </a:t>
            </a:r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code,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747720" y="3256560"/>
            <a:ext cx="28933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infrastructure, and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47720" y="3637440"/>
            <a:ext cx="311724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identity</a:t>
            </a:r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 in real-time.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47720" y="4210200"/>
            <a:ext cx="3766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The extended schema captures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47720" y="4619520"/>
            <a:ext cx="2935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deployment, usage, and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47720" y="5038560"/>
            <a:ext cx="3268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vulnerability identiﬁcation.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7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47720" y="1365840"/>
            <a:ext cx="4787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The Graph Advantage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047600" y="30002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47720" y="2284920"/>
            <a:ext cx="70477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Why use Neo4j for Vulnerability Management?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304640" y="3314520"/>
            <a:ext cx="1315080" cy="362160"/>
          </a:xfrm>
          <a:custGeom>
            <a:avLst/>
            <a:gdLst/>
            <a:ahLst/>
            <a:rect l="0" t="0" r="r" b="b"/>
            <a:pathLst>
              <a:path w="3653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494" y="0"/>
                </a:lnTo>
                <a:cubicBezTo>
                  <a:pt x="3504" y="0"/>
                  <a:pt x="3515" y="1"/>
                  <a:pt x="3525" y="3"/>
                </a:cubicBezTo>
                <a:cubicBezTo>
                  <a:pt x="3535" y="5"/>
                  <a:pt x="3545" y="8"/>
                  <a:pt x="3555" y="12"/>
                </a:cubicBezTo>
                <a:cubicBezTo>
                  <a:pt x="3564" y="16"/>
                  <a:pt x="3573" y="21"/>
                  <a:pt x="3582" y="27"/>
                </a:cubicBezTo>
                <a:cubicBezTo>
                  <a:pt x="3591" y="33"/>
                  <a:pt x="3599" y="39"/>
                  <a:pt x="3606" y="46"/>
                </a:cubicBezTo>
                <a:cubicBezTo>
                  <a:pt x="3613" y="54"/>
                  <a:pt x="3620" y="62"/>
                  <a:pt x="3626" y="71"/>
                </a:cubicBezTo>
                <a:cubicBezTo>
                  <a:pt x="3632" y="79"/>
                  <a:pt x="3636" y="88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2" y="138"/>
                  <a:pt x="3653" y="148"/>
                  <a:pt x="3653" y="159"/>
                </a:cubicBezTo>
                <a:lnTo>
                  <a:pt x="3653" y="848"/>
                </a:lnTo>
                <a:cubicBezTo>
                  <a:pt x="3653" y="858"/>
                  <a:pt x="3652" y="868"/>
                  <a:pt x="3649" y="879"/>
                </a:cubicBezTo>
                <a:cubicBezTo>
                  <a:pt x="3647" y="889"/>
                  <a:pt x="3644" y="899"/>
                  <a:pt x="3640" y="908"/>
                </a:cubicBezTo>
                <a:cubicBezTo>
                  <a:pt x="3636" y="918"/>
                  <a:pt x="3632" y="927"/>
                  <a:pt x="3626" y="936"/>
                </a:cubicBezTo>
                <a:cubicBezTo>
                  <a:pt x="3620" y="945"/>
                  <a:pt x="3613" y="953"/>
                  <a:pt x="3606" y="960"/>
                </a:cubicBezTo>
                <a:cubicBezTo>
                  <a:pt x="3599" y="967"/>
                  <a:pt x="3591" y="974"/>
                  <a:pt x="3582" y="980"/>
                </a:cubicBezTo>
                <a:cubicBezTo>
                  <a:pt x="3573" y="985"/>
                  <a:pt x="3564" y="990"/>
                  <a:pt x="3555" y="994"/>
                </a:cubicBezTo>
                <a:cubicBezTo>
                  <a:pt x="3545" y="998"/>
                  <a:pt x="3535" y="1001"/>
                  <a:pt x="3525" y="1003"/>
                </a:cubicBezTo>
                <a:cubicBezTo>
                  <a:pt x="3515" y="1005"/>
                  <a:pt x="3504" y="1006"/>
                  <a:pt x="3494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300320" y="2847960"/>
            <a:ext cx="9995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Real-world Reachability: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Is the vulnerable library actually reachable from 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393920" y="336600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Endpoint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047600" y="39146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614680" y="32670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300320" y="3762360"/>
            <a:ext cx="9766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Impact Analysis: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If this server is compromised, which "Crown Jewel" assets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047600" y="4809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5" y="249"/>
                  <a:pt x="51" y="239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300320" y="4181400"/>
            <a:ext cx="5276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(PII databases) are at risk via its Identity?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300320" y="4657680"/>
            <a:ext cx="9924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Eﬃciency: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Find the "Chokepoint" - the one library update that ﬁxes the most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300320" y="5076720"/>
            <a:ext cx="1888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reachable risk.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8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5486400" y="1457280"/>
            <a:ext cx="6705360" cy="3943080"/>
          </a:xfrm>
          <a:prstGeom prst="rect">
            <a:avLst/>
          </a:prstGeom>
          <a:ln w="0">
            <a:noFill/>
          </a:ln>
        </p:spPr>
      </p:pic>
      <p:sp>
        <p:nvSpPr>
          <p:cNvPr id="265" name=""/>
          <p:cNvSpPr txBox="1"/>
          <p:nvPr/>
        </p:nvSpPr>
        <p:spPr>
          <a:xfrm>
            <a:off x="747720" y="727560"/>
            <a:ext cx="238896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Visualizing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747720" y="1280160"/>
            <a:ext cx="273168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Reachability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47720" y="2199240"/>
            <a:ext cx="381996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Vulnerability to Compute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047600" y="33051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47720" y="2580480"/>
            <a:ext cx="32713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Instance Reachability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00320" y="3152880"/>
            <a:ext cx="2909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Attack Path Analysis: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300320" y="3562200"/>
            <a:ext cx="33840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Identifying the direct path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1300320" y="3981600"/>
            <a:ext cx="3356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from a CVE to an internet-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047600" y="5028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300320" y="4390920"/>
            <a:ext cx="1508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facing host.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300320" y="4876920"/>
            <a:ext cx="2995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Blast Radius: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Mapping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1300320" y="5295960"/>
            <a:ext cx="2733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what a compromised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300320" y="5705640"/>
            <a:ext cx="2492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identity can access.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1775600" y="6327720"/>
            <a:ext cx="22824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9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57080" y="2709720"/>
            <a:ext cx="10687320" cy="1886400"/>
          </a:xfrm>
          <a:custGeom>
            <a:avLst/>
            <a:gdLst/>
            <a:ahLst/>
            <a:rect l="0" t="0" r="r" b="b"/>
            <a:pathLst>
              <a:path w="29687" h="5240">
                <a:moveTo>
                  <a:pt x="0" y="50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094"/>
                </a:lnTo>
                <a:cubicBezTo>
                  <a:pt x="29687" y="5104"/>
                  <a:pt x="29686" y="5113"/>
                  <a:pt x="29684" y="5123"/>
                </a:cubicBezTo>
                <a:cubicBezTo>
                  <a:pt x="29683" y="5132"/>
                  <a:pt x="29680" y="5141"/>
                  <a:pt x="29676" y="5150"/>
                </a:cubicBezTo>
                <a:cubicBezTo>
                  <a:pt x="29672" y="5159"/>
                  <a:pt x="29668" y="5167"/>
                  <a:pt x="29663" y="5175"/>
                </a:cubicBezTo>
                <a:cubicBezTo>
                  <a:pt x="29657" y="5183"/>
                  <a:pt x="29651" y="5190"/>
                  <a:pt x="29645" y="5197"/>
                </a:cubicBezTo>
                <a:cubicBezTo>
                  <a:pt x="29638" y="5204"/>
                  <a:pt x="29630" y="5210"/>
                  <a:pt x="29623" y="5215"/>
                </a:cubicBezTo>
                <a:cubicBezTo>
                  <a:pt x="29615" y="5220"/>
                  <a:pt x="29606" y="5225"/>
                  <a:pt x="29597" y="5229"/>
                </a:cubicBezTo>
                <a:cubicBezTo>
                  <a:pt x="29589" y="5232"/>
                  <a:pt x="29579" y="5235"/>
                  <a:pt x="29570" y="5237"/>
                </a:cubicBezTo>
                <a:cubicBezTo>
                  <a:pt x="29561" y="5239"/>
                  <a:pt x="29551" y="5240"/>
                  <a:pt x="29542" y="5240"/>
                </a:cubicBezTo>
                <a:lnTo>
                  <a:pt x="145" y="5240"/>
                </a:lnTo>
                <a:cubicBezTo>
                  <a:pt x="136" y="5240"/>
                  <a:pt x="126" y="5239"/>
                  <a:pt x="117" y="5237"/>
                </a:cubicBezTo>
                <a:cubicBezTo>
                  <a:pt x="108" y="5235"/>
                  <a:pt x="99" y="5232"/>
                  <a:pt x="90" y="5229"/>
                </a:cubicBezTo>
                <a:cubicBezTo>
                  <a:pt x="81" y="5225"/>
                  <a:pt x="73" y="5220"/>
                  <a:pt x="65" y="5215"/>
                </a:cubicBezTo>
                <a:cubicBezTo>
                  <a:pt x="57" y="5210"/>
                  <a:pt x="49" y="5204"/>
                  <a:pt x="43" y="5197"/>
                </a:cubicBezTo>
                <a:cubicBezTo>
                  <a:pt x="36" y="5190"/>
                  <a:pt x="30" y="5183"/>
                  <a:pt x="24" y="5175"/>
                </a:cubicBezTo>
                <a:cubicBezTo>
                  <a:pt x="19" y="5167"/>
                  <a:pt x="15" y="5159"/>
                  <a:pt x="11" y="5150"/>
                </a:cubicBezTo>
                <a:cubicBezTo>
                  <a:pt x="7" y="5141"/>
                  <a:pt x="5" y="5132"/>
                  <a:pt x="3" y="5123"/>
                </a:cubicBezTo>
                <a:cubicBezTo>
                  <a:pt x="1" y="5113"/>
                  <a:pt x="0" y="5104"/>
                  <a:pt x="0" y="50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57080" y="2709720"/>
            <a:ext cx="10687320" cy="1886400"/>
          </a:xfrm>
          <a:custGeom>
            <a:avLst/>
            <a:gdLst/>
            <a:ahLst/>
            <a:rect l="0" t="0" r="r" b="b"/>
            <a:pathLst>
              <a:path w="29687" h="5240">
                <a:moveTo>
                  <a:pt x="0" y="50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094"/>
                </a:lnTo>
                <a:cubicBezTo>
                  <a:pt x="29687" y="5104"/>
                  <a:pt x="29686" y="5113"/>
                  <a:pt x="29684" y="5123"/>
                </a:cubicBezTo>
                <a:cubicBezTo>
                  <a:pt x="29683" y="5132"/>
                  <a:pt x="29680" y="5141"/>
                  <a:pt x="29676" y="5150"/>
                </a:cubicBezTo>
                <a:cubicBezTo>
                  <a:pt x="29672" y="5159"/>
                  <a:pt x="29668" y="5167"/>
                  <a:pt x="29663" y="5175"/>
                </a:cubicBezTo>
                <a:cubicBezTo>
                  <a:pt x="29657" y="5183"/>
                  <a:pt x="29651" y="5190"/>
                  <a:pt x="29645" y="5197"/>
                </a:cubicBezTo>
                <a:cubicBezTo>
                  <a:pt x="29638" y="5204"/>
                  <a:pt x="29630" y="5210"/>
                  <a:pt x="29623" y="5215"/>
                </a:cubicBezTo>
                <a:cubicBezTo>
                  <a:pt x="29615" y="5220"/>
                  <a:pt x="29606" y="5225"/>
                  <a:pt x="29597" y="5229"/>
                </a:cubicBezTo>
                <a:cubicBezTo>
                  <a:pt x="29589" y="5232"/>
                  <a:pt x="29579" y="5235"/>
                  <a:pt x="29570" y="5237"/>
                </a:cubicBezTo>
                <a:cubicBezTo>
                  <a:pt x="29561" y="5239"/>
                  <a:pt x="29551" y="5240"/>
                  <a:pt x="29542" y="5240"/>
                </a:cubicBezTo>
                <a:lnTo>
                  <a:pt x="145" y="5240"/>
                </a:lnTo>
                <a:cubicBezTo>
                  <a:pt x="136" y="5240"/>
                  <a:pt x="126" y="5239"/>
                  <a:pt x="117" y="5237"/>
                </a:cubicBezTo>
                <a:cubicBezTo>
                  <a:pt x="108" y="5235"/>
                  <a:pt x="99" y="5232"/>
                  <a:pt x="90" y="5229"/>
                </a:cubicBezTo>
                <a:cubicBezTo>
                  <a:pt x="81" y="5225"/>
                  <a:pt x="73" y="5220"/>
                  <a:pt x="65" y="5215"/>
                </a:cubicBezTo>
                <a:cubicBezTo>
                  <a:pt x="57" y="5210"/>
                  <a:pt x="49" y="5204"/>
                  <a:pt x="43" y="5197"/>
                </a:cubicBezTo>
                <a:cubicBezTo>
                  <a:pt x="36" y="5190"/>
                  <a:pt x="30" y="5183"/>
                  <a:pt x="24" y="5175"/>
                </a:cubicBezTo>
                <a:cubicBezTo>
                  <a:pt x="19" y="5167"/>
                  <a:pt x="15" y="5159"/>
                  <a:pt x="11" y="5150"/>
                </a:cubicBezTo>
                <a:cubicBezTo>
                  <a:pt x="7" y="5141"/>
                  <a:pt x="5" y="5132"/>
                  <a:pt x="3" y="5123"/>
                </a:cubicBezTo>
                <a:cubicBezTo>
                  <a:pt x="1" y="5113"/>
                  <a:pt x="0" y="5104"/>
                  <a:pt x="0" y="50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747720" y="1232640"/>
            <a:ext cx="726120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Reachability Example (Log4Shell)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47720" y="2151720"/>
            <a:ext cx="607860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Is a known CVE exposed to the internet?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4400" y="2871360"/>
            <a:ext cx="58590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(v:CVE)-[:IDENTIFIED_IN]-&gt;(l:Library)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14400" y="3129840"/>
            <a:ext cx="55861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-[:DEPENDENCY_OF]-&gt;(:BuildArtifact)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914400" y="3397320"/>
            <a:ext cx="531324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-[:RUNNING_AS]-&gt;(app:Application)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914400" y="3655800"/>
            <a:ext cx="54504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-[:HOSTED_ON]-&gt;(i:ComputeInstance)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914400" y="3914280"/>
            <a:ext cx="1035648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WHERE v.id = 'CVE-2021-44228' AND EXISTS { (:Endpoint)-[:RESOLVES_TO]-&gt;(i) }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14400" y="4181760"/>
            <a:ext cx="940212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90" spc="-1" strike="noStrike">
                <a:solidFill>
                  <a:srgbClr val="1f2328"/>
                </a:solidFill>
                <a:latin typeface="Courier New"/>
                <a:ea typeface="Courier New"/>
              </a:rPr>
              <a:t>RETURN app.name AS Application, i.public_ip AS Public_IP, v.id AS CVE</a:t>
            </a:r>
            <a:endParaRPr b="0" lang="en-US" sz="1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52400" y="5238720"/>
            <a:ext cx="1314720" cy="362160"/>
          </a:xfrm>
          <a:custGeom>
            <a:avLst/>
            <a:gdLst/>
            <a:ahLst/>
            <a:rect l="0" t="0" r="r" b="b"/>
            <a:pathLst>
              <a:path w="3652" h="1006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2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4" y="5"/>
                  <a:pt x="3544" y="8"/>
                  <a:pt x="3554" y="12"/>
                </a:cubicBezTo>
                <a:cubicBezTo>
                  <a:pt x="3564" y="16"/>
                  <a:pt x="3573" y="22"/>
                  <a:pt x="3581" y="27"/>
                </a:cubicBezTo>
                <a:cubicBezTo>
                  <a:pt x="3590" y="33"/>
                  <a:pt x="3598" y="40"/>
                  <a:pt x="3605" y="47"/>
                </a:cubicBezTo>
                <a:cubicBezTo>
                  <a:pt x="3613" y="54"/>
                  <a:pt x="3619" y="62"/>
                  <a:pt x="3625" y="71"/>
                </a:cubicBezTo>
                <a:cubicBezTo>
                  <a:pt x="3631" y="80"/>
                  <a:pt x="3636" y="89"/>
                  <a:pt x="3640" y="99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9"/>
                  <a:pt x="3652" y="149"/>
                  <a:pt x="3652" y="159"/>
                </a:cubicBezTo>
                <a:lnTo>
                  <a:pt x="3652" y="847"/>
                </a:lnTo>
                <a:cubicBezTo>
                  <a:pt x="3652" y="858"/>
                  <a:pt x="3651" y="868"/>
                  <a:pt x="3649" y="878"/>
                </a:cubicBezTo>
                <a:cubicBezTo>
                  <a:pt x="3647" y="888"/>
                  <a:pt x="3644" y="898"/>
                  <a:pt x="3640" y="908"/>
                </a:cubicBezTo>
                <a:cubicBezTo>
                  <a:pt x="3636" y="918"/>
                  <a:pt x="3631" y="927"/>
                  <a:pt x="3625" y="935"/>
                </a:cubicBezTo>
                <a:cubicBezTo>
                  <a:pt x="3619" y="944"/>
                  <a:pt x="3613" y="952"/>
                  <a:pt x="3605" y="960"/>
                </a:cubicBezTo>
                <a:cubicBezTo>
                  <a:pt x="3598" y="967"/>
                  <a:pt x="3590" y="973"/>
                  <a:pt x="3581" y="979"/>
                </a:cubicBezTo>
                <a:cubicBezTo>
                  <a:pt x="3573" y="985"/>
                  <a:pt x="3564" y="990"/>
                  <a:pt x="3554" y="994"/>
                </a:cubicBezTo>
                <a:cubicBezTo>
                  <a:pt x="3544" y="998"/>
                  <a:pt x="3534" y="1001"/>
                  <a:pt x="3524" y="1003"/>
                </a:cubicBezTo>
                <a:cubicBezTo>
                  <a:pt x="3514" y="1005"/>
                  <a:pt x="3504" y="1006"/>
                  <a:pt x="3493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2" y="973"/>
                  <a:pt x="54" y="967"/>
                  <a:pt x="46" y="960"/>
                </a:cubicBezTo>
                <a:cubicBezTo>
                  <a:pt x="39" y="952"/>
                  <a:pt x="32" y="944"/>
                  <a:pt x="26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47720" y="4772160"/>
            <a:ext cx="10555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Why it matters: ﬁlters out non-exploitable ﬁndings by requiring an internet-facing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841680" y="529020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Endpoint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062440" y="51912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134080" y="523656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2485800" y="5238720"/>
            <a:ext cx="2296080" cy="362160"/>
          </a:xfrm>
          <a:custGeom>
            <a:avLst/>
            <a:gdLst/>
            <a:ahLst/>
            <a:rect l="0" t="0" r="r" b="b"/>
            <a:pathLst>
              <a:path w="6378" h="1006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2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6219" y="0"/>
                </a:lnTo>
                <a:cubicBezTo>
                  <a:pt x="6229" y="0"/>
                  <a:pt x="6240" y="1"/>
                  <a:pt x="6250" y="3"/>
                </a:cubicBezTo>
                <a:cubicBezTo>
                  <a:pt x="6260" y="5"/>
                  <a:pt x="6270" y="8"/>
                  <a:pt x="6280" y="12"/>
                </a:cubicBezTo>
                <a:cubicBezTo>
                  <a:pt x="6289" y="16"/>
                  <a:pt x="6298" y="22"/>
                  <a:pt x="6307" y="27"/>
                </a:cubicBezTo>
                <a:cubicBezTo>
                  <a:pt x="6316" y="33"/>
                  <a:pt x="6324" y="40"/>
                  <a:pt x="6331" y="47"/>
                </a:cubicBezTo>
                <a:cubicBezTo>
                  <a:pt x="6338" y="54"/>
                  <a:pt x="6345" y="62"/>
                  <a:pt x="6351" y="71"/>
                </a:cubicBezTo>
                <a:cubicBezTo>
                  <a:pt x="6357" y="80"/>
                  <a:pt x="6362" y="89"/>
                  <a:pt x="6365" y="99"/>
                </a:cubicBezTo>
                <a:cubicBezTo>
                  <a:pt x="6369" y="108"/>
                  <a:pt x="6372" y="118"/>
                  <a:pt x="6375" y="128"/>
                </a:cubicBezTo>
                <a:cubicBezTo>
                  <a:pt x="6377" y="139"/>
                  <a:pt x="6378" y="149"/>
                  <a:pt x="6378" y="159"/>
                </a:cubicBezTo>
                <a:lnTo>
                  <a:pt x="6378" y="847"/>
                </a:lnTo>
                <a:cubicBezTo>
                  <a:pt x="6378" y="858"/>
                  <a:pt x="6377" y="868"/>
                  <a:pt x="6375" y="878"/>
                </a:cubicBezTo>
                <a:cubicBezTo>
                  <a:pt x="6372" y="888"/>
                  <a:pt x="6369" y="898"/>
                  <a:pt x="6365" y="908"/>
                </a:cubicBezTo>
                <a:cubicBezTo>
                  <a:pt x="6362" y="918"/>
                  <a:pt x="6357" y="927"/>
                  <a:pt x="6351" y="935"/>
                </a:cubicBezTo>
                <a:cubicBezTo>
                  <a:pt x="6345" y="944"/>
                  <a:pt x="6338" y="952"/>
                  <a:pt x="6331" y="960"/>
                </a:cubicBezTo>
                <a:cubicBezTo>
                  <a:pt x="6324" y="967"/>
                  <a:pt x="6316" y="973"/>
                  <a:pt x="6307" y="979"/>
                </a:cubicBezTo>
                <a:cubicBezTo>
                  <a:pt x="6298" y="985"/>
                  <a:pt x="6289" y="990"/>
                  <a:pt x="6280" y="994"/>
                </a:cubicBezTo>
                <a:cubicBezTo>
                  <a:pt x="6270" y="998"/>
                  <a:pt x="6260" y="1001"/>
                  <a:pt x="6250" y="1003"/>
                </a:cubicBezTo>
                <a:cubicBezTo>
                  <a:pt x="6240" y="1005"/>
                  <a:pt x="6229" y="1006"/>
                  <a:pt x="6219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1" y="979"/>
                </a:cubicBezTo>
                <a:cubicBezTo>
                  <a:pt x="62" y="973"/>
                  <a:pt x="54" y="967"/>
                  <a:pt x="47" y="960"/>
                </a:cubicBezTo>
                <a:cubicBezTo>
                  <a:pt x="39" y="952"/>
                  <a:pt x="33" y="944"/>
                  <a:pt x="27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2410200" y="51912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576160" y="5290200"/>
            <a:ext cx="2112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ComputeInstance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4782960" y="5191200"/>
            <a:ext cx="605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link.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10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757080" y="276696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3"/>
                </a:lnTo>
                <a:cubicBezTo>
                  <a:pt x="29687" y="6003"/>
                  <a:pt x="29686" y="6012"/>
                  <a:pt x="29684" y="6022"/>
                </a:cubicBezTo>
                <a:cubicBezTo>
                  <a:pt x="29683" y="6031"/>
                  <a:pt x="29680" y="6040"/>
                  <a:pt x="29676" y="6049"/>
                </a:cubicBezTo>
                <a:cubicBezTo>
                  <a:pt x="29672" y="6058"/>
                  <a:pt x="29668" y="6066"/>
                  <a:pt x="29663" y="6074"/>
                </a:cubicBezTo>
                <a:cubicBezTo>
                  <a:pt x="29657" y="6082"/>
                  <a:pt x="29651" y="6090"/>
                  <a:pt x="29645" y="6096"/>
                </a:cubicBezTo>
                <a:cubicBezTo>
                  <a:pt x="29638" y="6103"/>
                  <a:pt x="29630" y="6109"/>
                  <a:pt x="29623" y="6114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4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4"/>
                  <a:pt x="99" y="6132"/>
                  <a:pt x="90" y="6128"/>
                </a:cubicBezTo>
                <a:cubicBezTo>
                  <a:pt x="81" y="6124"/>
                  <a:pt x="73" y="6120"/>
                  <a:pt x="65" y="6114"/>
                </a:cubicBezTo>
                <a:cubicBezTo>
                  <a:pt x="57" y="6109"/>
                  <a:pt x="49" y="6103"/>
                  <a:pt x="43" y="6096"/>
                </a:cubicBezTo>
                <a:cubicBezTo>
                  <a:pt x="36" y="6090"/>
                  <a:pt x="30" y="6082"/>
                  <a:pt x="24" y="6074"/>
                </a:cubicBezTo>
                <a:cubicBezTo>
                  <a:pt x="19" y="6066"/>
                  <a:pt x="15" y="6058"/>
                  <a:pt x="11" y="6049"/>
                </a:cubicBezTo>
                <a:cubicBezTo>
                  <a:pt x="7" y="6040"/>
                  <a:pt x="5" y="6031"/>
                  <a:pt x="3" y="6022"/>
                </a:cubicBezTo>
                <a:cubicBezTo>
                  <a:pt x="1" y="6012"/>
                  <a:pt x="0" y="6003"/>
                  <a:pt x="0" y="599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757080" y="276696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3"/>
                </a:lnTo>
                <a:cubicBezTo>
                  <a:pt x="29687" y="6003"/>
                  <a:pt x="29686" y="6012"/>
                  <a:pt x="29684" y="6022"/>
                </a:cubicBezTo>
                <a:cubicBezTo>
                  <a:pt x="29683" y="6031"/>
                  <a:pt x="29680" y="6040"/>
                  <a:pt x="29676" y="6049"/>
                </a:cubicBezTo>
                <a:cubicBezTo>
                  <a:pt x="29672" y="6058"/>
                  <a:pt x="29668" y="6066"/>
                  <a:pt x="29663" y="6074"/>
                </a:cubicBezTo>
                <a:cubicBezTo>
                  <a:pt x="29657" y="6082"/>
                  <a:pt x="29651" y="6090"/>
                  <a:pt x="29645" y="6096"/>
                </a:cubicBezTo>
                <a:cubicBezTo>
                  <a:pt x="29638" y="6103"/>
                  <a:pt x="29630" y="6109"/>
                  <a:pt x="29623" y="6114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4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4"/>
                  <a:pt x="99" y="6132"/>
                  <a:pt x="90" y="6128"/>
                </a:cubicBezTo>
                <a:cubicBezTo>
                  <a:pt x="81" y="6124"/>
                  <a:pt x="73" y="6120"/>
                  <a:pt x="65" y="6114"/>
                </a:cubicBezTo>
                <a:cubicBezTo>
                  <a:pt x="57" y="6109"/>
                  <a:pt x="49" y="6103"/>
                  <a:pt x="43" y="6096"/>
                </a:cubicBezTo>
                <a:cubicBezTo>
                  <a:pt x="36" y="6090"/>
                  <a:pt x="30" y="6082"/>
                  <a:pt x="24" y="6074"/>
                </a:cubicBezTo>
                <a:cubicBezTo>
                  <a:pt x="19" y="6066"/>
                  <a:pt x="15" y="6058"/>
                  <a:pt x="11" y="6049"/>
                </a:cubicBezTo>
                <a:cubicBezTo>
                  <a:pt x="7" y="6040"/>
                  <a:pt x="5" y="6031"/>
                  <a:pt x="3" y="6022"/>
                </a:cubicBezTo>
                <a:cubicBezTo>
                  <a:pt x="1" y="6012"/>
                  <a:pt x="0" y="6003"/>
                  <a:pt x="0" y="599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47720" y="1289520"/>
            <a:ext cx="668952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Impact Example (Blast Radius)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47720" y="2208960"/>
            <a:ext cx="629784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What could the compromised app access?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914400" y="292860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(v:CVE)-[:IDENTIFIED_IN]-&gt;(:Library)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914400" y="31953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-[:DEPENDENCY_OF]-&gt;(:BuildArtifact)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914400" y="3471480"/>
            <a:ext cx="5491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-[:RUNNING_AS]-&gt;(app:Application)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914400" y="373824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(app)-[:AUTHENTICATES_VIA]-&gt;(:Identity)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914400" y="40050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-[:ASSUMES]-&gt;(:IAMPolicy)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914400" y="4281120"/>
            <a:ext cx="5913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-[:HAS_ACCESS_TO]-&gt;(cs:CloudService)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914400" y="4547880"/>
            <a:ext cx="1028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RETURN v.id AS CVE, app.name AS Application, cs.resource_name AS Resource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47720" y="5153040"/>
            <a:ext cx="9138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Connects software risk to cloud data access (e.g., PII bucket exposure).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11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757080" y="222408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2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79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09"/>
                  <a:pt x="29606" y="9114"/>
                  <a:pt x="29597" y="9118"/>
                </a:cubicBezTo>
                <a:cubicBezTo>
                  <a:pt x="29589" y="9121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1"/>
                  <a:pt x="90" y="9118"/>
                </a:cubicBezTo>
                <a:cubicBezTo>
                  <a:pt x="81" y="9114"/>
                  <a:pt x="73" y="9109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79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2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57080" y="222408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2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79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09"/>
                  <a:pt x="29606" y="9114"/>
                  <a:pt x="29597" y="9118"/>
                </a:cubicBezTo>
                <a:cubicBezTo>
                  <a:pt x="29589" y="9121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1"/>
                  <a:pt x="90" y="9118"/>
                </a:cubicBezTo>
                <a:cubicBezTo>
                  <a:pt x="81" y="9114"/>
                  <a:pt x="73" y="9109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79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2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47720" y="746640"/>
            <a:ext cx="574452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Remediation ROI Example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47720" y="1666080"/>
            <a:ext cx="712692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Which repo ﬁx removes the most exposed risk?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914400" y="23857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(v:CVE)-[:IDENTIFIED_IN]-&gt;(:Library)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914400" y="265248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-[:DEPENDENCY_OF]-&gt;(:BuildArtifact)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914400" y="2928600"/>
            <a:ext cx="4223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-[:BUILT_FROM]-&gt;(r:Repo)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914400" y="3195360"/>
            <a:ext cx="5775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(r)&lt;-[:BUILT_FROM]-(:BuildArtifact)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914400" y="3462120"/>
            <a:ext cx="4929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-[:RUNNING_AS]-(:Application)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914400" y="3738240"/>
            <a:ext cx="5633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-[:HOSTED_ON]-&gt;(i:ComputeInstance)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914400" y="4005000"/>
            <a:ext cx="4084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WHERE i.public_ip IS NOT NULL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914400" y="4271760"/>
            <a:ext cx="3098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RETURN r.name AS Repo,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914400" y="4547880"/>
            <a:ext cx="5631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COUNT(DISTINCT v) AS Total_Vulns,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914400" y="4814640"/>
            <a:ext cx="6336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COUNT(DISTINCT i) AS Exposed_Instances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914400" y="5081400"/>
            <a:ext cx="35211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ORDER BY Total_Vulns DESC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747720" y="5686560"/>
            <a:ext cx="9833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Targets high-ROI dependency updates at the source (repository ownership).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757080" y="2271600"/>
            <a:ext cx="10687320" cy="3200760"/>
          </a:xfrm>
          <a:custGeom>
            <a:avLst/>
            <a:gdLst/>
            <a:ahLst/>
            <a:rect l="0" t="0" r="r" b="b"/>
            <a:pathLst>
              <a:path w="29687" h="8891">
                <a:moveTo>
                  <a:pt x="0" y="8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745"/>
                </a:lnTo>
                <a:cubicBezTo>
                  <a:pt x="29687" y="8755"/>
                  <a:pt x="29686" y="8764"/>
                  <a:pt x="29684" y="8774"/>
                </a:cubicBezTo>
                <a:cubicBezTo>
                  <a:pt x="29683" y="8783"/>
                  <a:pt x="29680" y="8792"/>
                  <a:pt x="29676" y="8801"/>
                </a:cubicBezTo>
                <a:cubicBezTo>
                  <a:pt x="29672" y="8810"/>
                  <a:pt x="29668" y="8818"/>
                  <a:pt x="29663" y="8826"/>
                </a:cubicBezTo>
                <a:cubicBezTo>
                  <a:pt x="29657" y="8834"/>
                  <a:pt x="29651" y="8841"/>
                  <a:pt x="29645" y="8848"/>
                </a:cubicBezTo>
                <a:cubicBezTo>
                  <a:pt x="29638" y="8855"/>
                  <a:pt x="29630" y="8861"/>
                  <a:pt x="29623" y="8866"/>
                </a:cubicBezTo>
                <a:cubicBezTo>
                  <a:pt x="29615" y="8872"/>
                  <a:pt x="29606" y="8876"/>
                  <a:pt x="29597" y="8880"/>
                </a:cubicBezTo>
                <a:cubicBezTo>
                  <a:pt x="29589" y="8883"/>
                  <a:pt x="29579" y="8886"/>
                  <a:pt x="29570" y="8888"/>
                </a:cubicBezTo>
                <a:cubicBezTo>
                  <a:pt x="29561" y="8890"/>
                  <a:pt x="29551" y="8891"/>
                  <a:pt x="29542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8" y="8886"/>
                  <a:pt x="99" y="8883"/>
                  <a:pt x="90" y="8880"/>
                </a:cubicBezTo>
                <a:cubicBezTo>
                  <a:pt x="81" y="8876"/>
                  <a:pt x="73" y="8872"/>
                  <a:pt x="65" y="8866"/>
                </a:cubicBezTo>
                <a:cubicBezTo>
                  <a:pt x="57" y="8861"/>
                  <a:pt x="49" y="8855"/>
                  <a:pt x="43" y="8848"/>
                </a:cubicBezTo>
                <a:cubicBezTo>
                  <a:pt x="36" y="8841"/>
                  <a:pt x="30" y="8834"/>
                  <a:pt x="24" y="8826"/>
                </a:cubicBezTo>
                <a:cubicBezTo>
                  <a:pt x="19" y="8818"/>
                  <a:pt x="15" y="8810"/>
                  <a:pt x="11" y="8801"/>
                </a:cubicBezTo>
                <a:cubicBezTo>
                  <a:pt x="7" y="8792"/>
                  <a:pt x="5" y="8783"/>
                  <a:pt x="3" y="8774"/>
                </a:cubicBezTo>
                <a:cubicBezTo>
                  <a:pt x="1" y="8764"/>
                  <a:pt x="0" y="8755"/>
                  <a:pt x="0" y="8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757080" y="2271600"/>
            <a:ext cx="10687320" cy="3200760"/>
          </a:xfrm>
          <a:custGeom>
            <a:avLst/>
            <a:gdLst/>
            <a:ahLst/>
            <a:rect l="0" t="0" r="r" b="b"/>
            <a:pathLst>
              <a:path w="29687" h="8891">
                <a:moveTo>
                  <a:pt x="0" y="8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745"/>
                </a:lnTo>
                <a:cubicBezTo>
                  <a:pt x="29687" y="8755"/>
                  <a:pt x="29686" y="8764"/>
                  <a:pt x="29684" y="8774"/>
                </a:cubicBezTo>
                <a:cubicBezTo>
                  <a:pt x="29683" y="8783"/>
                  <a:pt x="29680" y="8792"/>
                  <a:pt x="29676" y="8801"/>
                </a:cubicBezTo>
                <a:cubicBezTo>
                  <a:pt x="29672" y="8810"/>
                  <a:pt x="29668" y="8818"/>
                  <a:pt x="29663" y="8826"/>
                </a:cubicBezTo>
                <a:cubicBezTo>
                  <a:pt x="29657" y="8834"/>
                  <a:pt x="29651" y="8841"/>
                  <a:pt x="29645" y="8848"/>
                </a:cubicBezTo>
                <a:cubicBezTo>
                  <a:pt x="29638" y="8855"/>
                  <a:pt x="29630" y="8861"/>
                  <a:pt x="29623" y="8866"/>
                </a:cubicBezTo>
                <a:cubicBezTo>
                  <a:pt x="29615" y="8872"/>
                  <a:pt x="29606" y="8876"/>
                  <a:pt x="29597" y="8880"/>
                </a:cubicBezTo>
                <a:cubicBezTo>
                  <a:pt x="29589" y="8883"/>
                  <a:pt x="29579" y="8886"/>
                  <a:pt x="29570" y="8888"/>
                </a:cubicBezTo>
                <a:cubicBezTo>
                  <a:pt x="29561" y="8890"/>
                  <a:pt x="29551" y="8891"/>
                  <a:pt x="29542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8" y="8886"/>
                  <a:pt x="99" y="8883"/>
                  <a:pt x="90" y="8880"/>
                </a:cubicBezTo>
                <a:cubicBezTo>
                  <a:pt x="81" y="8876"/>
                  <a:pt x="73" y="8872"/>
                  <a:pt x="65" y="8866"/>
                </a:cubicBezTo>
                <a:cubicBezTo>
                  <a:pt x="57" y="8861"/>
                  <a:pt x="49" y="8855"/>
                  <a:pt x="43" y="8848"/>
                </a:cubicBezTo>
                <a:cubicBezTo>
                  <a:pt x="36" y="8841"/>
                  <a:pt x="30" y="8834"/>
                  <a:pt x="24" y="8826"/>
                </a:cubicBezTo>
                <a:cubicBezTo>
                  <a:pt x="19" y="8818"/>
                  <a:pt x="15" y="8810"/>
                  <a:pt x="11" y="8801"/>
                </a:cubicBezTo>
                <a:cubicBezTo>
                  <a:pt x="7" y="8792"/>
                  <a:pt x="5" y="8783"/>
                  <a:pt x="3" y="8774"/>
                </a:cubicBezTo>
                <a:cubicBezTo>
                  <a:pt x="1" y="8764"/>
                  <a:pt x="0" y="8755"/>
                  <a:pt x="0" y="8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47720" y="794520"/>
            <a:ext cx="523728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Contextual Risk Scoring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747720" y="1713600"/>
            <a:ext cx="688608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Dynamic score = CVSS × Reachability × Impact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14400" y="2432160"/>
            <a:ext cx="3341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MATCH (v:CVE)-[:IDENTIFIED_IN]-&gt;(:Library)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14400" y="2594160"/>
            <a:ext cx="32619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-[:DEPENDENCY_OF]-&gt;(:BuildArtifact)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14400" y="2755800"/>
            <a:ext cx="31021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-[:RUNNING_AS]-&gt;(app:Application)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14400" y="2908440"/>
            <a:ext cx="3341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-[:HOSTED_ON]-&gt;(ins:ComputeInstance)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14400" y="3070440"/>
            <a:ext cx="13525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WITH v, app, ins,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14400" y="3232080"/>
            <a:ext cx="60465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CASE WHEN ins.public_ip IS NOT NULL THEN 1.5 ELSE 1.0 END AS reach_mult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14400" y="3394080"/>
            <a:ext cx="35013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OPTIONAL MATCH (ins)-[:RUNS_AS]-&gt;(:Identity)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14400" y="3556080"/>
            <a:ext cx="24667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-[:ASSUMES]-&gt;(:IAMPolicy)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914400" y="3708360"/>
            <a:ext cx="31827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-[:HAS_ACCESS_TO]-&gt;(:CloudService)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14400" y="3870360"/>
            <a:ext cx="1910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WITH v, app, reach_mult,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14400" y="4032360"/>
            <a:ext cx="50925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CASE WHEN count(*) &gt; 0 THEN 2.0 ELSE 1.0 END AS impact_mult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14400" y="4194360"/>
            <a:ext cx="15109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RETURN v.id AS CVE,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914400" y="4356000"/>
            <a:ext cx="24663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app.name AS Application,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914400" y="4508640"/>
            <a:ext cx="25459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v.baseScore AS Base_CVSS,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14400" y="4670640"/>
            <a:ext cx="25459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reach_mult AS Reach_Mult,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14400" y="4832280"/>
            <a:ext cx="270432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impact_mult AS Impact_Mult,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914400" y="4994280"/>
            <a:ext cx="54885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</a:t>
            </a:r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round(v.baseScore * reach_mult * impact_mult, 2) AS Final_Risk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914400" y="5156280"/>
            <a:ext cx="1910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1f2328"/>
                </a:solidFill>
                <a:latin typeface="Courier New"/>
                <a:ea typeface="Courier New"/>
              </a:rPr>
              <a:t>ORDER BY Final_Risk DESC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47720" y="5648400"/>
            <a:ext cx="9207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Prioritizes internet-exposed paths with sensitive-data access to the top.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13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47720" y="1784880"/>
            <a:ext cx="634356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Outward System Integration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047600" y="34286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47720" y="2703960"/>
            <a:ext cx="1013256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The VPEM graph acts as a </a:t>
            </a:r>
            <a:r>
              <a:rPr b="1" lang="en-US" sz="2390" spc="-1" strike="noStrike">
                <a:solidFill>
                  <a:srgbClr val="4488cc"/>
                </a:solidFill>
                <a:latin typeface="NotoSans-Semi"/>
                <a:ea typeface="NotoSans-Semi"/>
              </a:rPr>
              <a:t>central nervous system</a:t>
            </a:r>
            <a:r>
              <a:rPr b="1" lang="en-US" sz="2390" spc="-1" strike="noStrike">
                <a:solidFill>
                  <a:srgbClr val="1f2328"/>
                </a:solidFill>
                <a:latin typeface="NotoSans-Semi"/>
                <a:ea typeface="NotoSans-Semi"/>
              </a:rPr>
              <a:t> for security data: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047600" y="39049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1300320" y="3276720"/>
            <a:ext cx="9646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SecOps (SOAR):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Contextual alert enrichment and automated containment.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1300320" y="3753000"/>
            <a:ext cx="9734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DevOps (CI/CD):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"Policy as Code" guardrails to fail builds that create lateral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1047600" y="48099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5" y="249"/>
                  <a:pt x="51" y="239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300320" y="4172040"/>
            <a:ext cx="2275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movement paths.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300320" y="4657680"/>
            <a:ext cx="10046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GRC &amp; Compliance: </a:t>
            </a:r>
            <a:r>
              <a:rPr b="0" lang="en-US" sz="2170" spc="-1" strike="noStrike">
                <a:solidFill>
                  <a:srgbClr val="1f2328"/>
                </a:solidFill>
                <a:latin typeface="NotoSans"/>
                <a:ea typeface="NotoSans"/>
              </a:rPr>
              <a:t>Strategic risk metrics and CISA KEV remediation tracking.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14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47720" y="2775600"/>
            <a:ext cx="255960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NotoSans-Semi"/>
                <a:ea typeface="NotoSans-Semi"/>
              </a:rPr>
              <a:t>Questions 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474120" y="6359400"/>
            <a:ext cx="139320" cy="144720"/>
          </a:xfrm>
          <a:custGeom>
            <a:avLst/>
            <a:gdLst/>
            <a:ahLst/>
            <a:rect l="0" t="0" r="r" b="b"/>
            <a:pathLst>
              <a:path w="387" h="402">
                <a:moveTo>
                  <a:pt x="194" y="0"/>
                </a:moveTo>
                <a:cubicBezTo>
                  <a:pt x="78" y="0"/>
                  <a:pt x="0" y="67"/>
                  <a:pt x="0" y="198"/>
                </a:cubicBezTo>
                <a:lnTo>
                  <a:pt x="0" y="291"/>
                </a:lnTo>
                <a:cubicBezTo>
                  <a:pt x="11" y="286"/>
                  <a:pt x="24" y="283"/>
                  <a:pt x="38" y="283"/>
                </a:cubicBezTo>
                <a:cubicBezTo>
                  <a:pt x="52" y="283"/>
                  <a:pt x="64" y="286"/>
                  <a:pt x="76" y="292"/>
                </a:cubicBezTo>
                <a:lnTo>
                  <a:pt x="76" y="198"/>
                </a:lnTo>
                <a:cubicBezTo>
                  <a:pt x="76" y="113"/>
                  <a:pt x="122" y="69"/>
                  <a:pt x="194" y="69"/>
                </a:cubicBezTo>
                <a:cubicBezTo>
                  <a:pt x="265" y="69"/>
                  <a:pt x="312" y="113"/>
                  <a:pt x="312" y="198"/>
                </a:cubicBezTo>
                <a:lnTo>
                  <a:pt x="312" y="402"/>
                </a:lnTo>
                <a:lnTo>
                  <a:pt x="387" y="402"/>
                </a:lnTo>
                <a:lnTo>
                  <a:pt x="387" y="198"/>
                </a:lnTo>
                <a:cubicBezTo>
                  <a:pt x="387" y="66"/>
                  <a:pt x="309" y="0"/>
                  <a:pt x="194" y="0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627840" y="6359400"/>
            <a:ext cx="151560" cy="148320"/>
          </a:xfrm>
          <a:custGeom>
            <a:avLst/>
            <a:gdLst/>
            <a:ahLst/>
            <a:rect l="0" t="0" r="r" b="b"/>
            <a:pathLst>
              <a:path w="421" h="412">
                <a:moveTo>
                  <a:pt x="0" y="205"/>
                </a:moveTo>
                <a:cubicBezTo>
                  <a:pt x="0" y="87"/>
                  <a:pt x="87" y="0"/>
                  <a:pt x="212" y="0"/>
                </a:cubicBezTo>
                <a:cubicBezTo>
                  <a:pt x="335" y="0"/>
                  <a:pt x="421" y="87"/>
                  <a:pt x="421" y="205"/>
                </a:cubicBezTo>
                <a:lnTo>
                  <a:pt x="421" y="234"/>
                </a:lnTo>
                <a:lnTo>
                  <a:pt x="79" y="234"/>
                </a:lnTo>
                <a:cubicBezTo>
                  <a:pt x="90" y="304"/>
                  <a:pt x="143" y="343"/>
                  <a:pt x="212" y="343"/>
                </a:cubicBezTo>
                <a:cubicBezTo>
                  <a:pt x="263" y="343"/>
                  <a:pt x="298" y="327"/>
                  <a:pt x="321" y="293"/>
                </a:cubicBezTo>
                <a:lnTo>
                  <a:pt x="404" y="293"/>
                </a:lnTo>
                <a:cubicBezTo>
                  <a:pt x="374" y="365"/>
                  <a:pt x="303" y="412"/>
                  <a:pt x="212" y="412"/>
                </a:cubicBezTo>
                <a:cubicBezTo>
                  <a:pt x="87" y="412"/>
                  <a:pt x="0" y="325"/>
                  <a:pt x="0" y="205"/>
                </a:cubicBezTo>
                <a:moveTo>
                  <a:pt x="342" y="166"/>
                </a:moveTo>
                <a:cubicBezTo>
                  <a:pt x="327" y="104"/>
                  <a:pt x="275" y="69"/>
                  <a:pt x="212" y="69"/>
                </a:cubicBezTo>
                <a:cubicBezTo>
                  <a:pt x="148" y="69"/>
                  <a:pt x="97" y="104"/>
                  <a:pt x="81" y="166"/>
                </a:cubicBezTo>
                <a:lnTo>
                  <a:pt x="342" y="1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93440" y="6359400"/>
            <a:ext cx="152280" cy="148320"/>
          </a:xfrm>
          <a:custGeom>
            <a:avLst/>
            <a:gdLst/>
            <a:ahLst/>
            <a:rect l="0" t="0" r="r" b="b"/>
            <a:pathLst>
              <a:path w="423" h="412">
                <a:moveTo>
                  <a:pt x="0" y="205"/>
                </a:moveTo>
                <a:cubicBezTo>
                  <a:pt x="0" y="87"/>
                  <a:pt x="88" y="0"/>
                  <a:pt x="212" y="0"/>
                </a:cubicBezTo>
                <a:cubicBezTo>
                  <a:pt x="335" y="0"/>
                  <a:pt x="423" y="87"/>
                  <a:pt x="423" y="205"/>
                </a:cubicBezTo>
                <a:cubicBezTo>
                  <a:pt x="423" y="325"/>
                  <a:pt x="335" y="412"/>
                  <a:pt x="212" y="412"/>
                </a:cubicBezTo>
                <a:cubicBezTo>
                  <a:pt x="88" y="412"/>
                  <a:pt x="0" y="325"/>
                  <a:pt x="0" y="205"/>
                </a:cubicBezTo>
                <a:moveTo>
                  <a:pt x="346" y="205"/>
                </a:moveTo>
                <a:cubicBezTo>
                  <a:pt x="346" y="126"/>
                  <a:pt x="293" y="69"/>
                  <a:pt x="212" y="69"/>
                </a:cubicBezTo>
                <a:cubicBezTo>
                  <a:pt x="131" y="69"/>
                  <a:pt x="76" y="126"/>
                  <a:pt x="76" y="205"/>
                </a:cubicBezTo>
                <a:cubicBezTo>
                  <a:pt x="76" y="285"/>
                  <a:pt x="131" y="342"/>
                  <a:pt x="212" y="342"/>
                </a:cubicBezTo>
                <a:cubicBezTo>
                  <a:pt x="293" y="342"/>
                  <a:pt x="346" y="286"/>
                  <a:pt x="346" y="205"/>
                </a:cubicBez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1100160" y="6364080"/>
            <a:ext cx="54720" cy="191160"/>
          </a:xfrm>
          <a:custGeom>
            <a:avLst/>
            <a:gdLst/>
            <a:ahLst/>
            <a:rect l="0" t="0" r="r" b="b"/>
            <a:pathLst>
              <a:path w="152" h="531">
                <a:moveTo>
                  <a:pt x="0" y="466"/>
                </a:moveTo>
                <a:lnTo>
                  <a:pt x="9" y="466"/>
                </a:lnTo>
                <a:cubicBezTo>
                  <a:pt x="58" y="466"/>
                  <a:pt x="76" y="445"/>
                  <a:pt x="76" y="390"/>
                </a:cubicBezTo>
                <a:lnTo>
                  <a:pt x="76" y="0"/>
                </a:lnTo>
                <a:lnTo>
                  <a:pt x="152" y="0"/>
                </a:lnTo>
                <a:lnTo>
                  <a:pt x="152" y="385"/>
                </a:lnTo>
                <a:cubicBezTo>
                  <a:pt x="152" y="481"/>
                  <a:pt x="113" y="531"/>
                  <a:pt x="16" y="531"/>
                </a:cubicBezTo>
                <a:lnTo>
                  <a:pt x="0" y="531"/>
                </a:lnTo>
                <a:lnTo>
                  <a:pt x="0" y="466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956880" y="6339600"/>
            <a:ext cx="150480" cy="177840"/>
          </a:xfrm>
          <a:custGeom>
            <a:avLst/>
            <a:gdLst/>
            <a:ahLst/>
            <a:rect l="0" t="0" r="r" b="b"/>
            <a:pathLst>
              <a:path w="418" h="494">
                <a:moveTo>
                  <a:pt x="361" y="494"/>
                </a:moveTo>
                <a:lnTo>
                  <a:pt x="286" y="494"/>
                </a:lnTo>
                <a:lnTo>
                  <a:pt x="286" y="402"/>
                </a:lnTo>
                <a:lnTo>
                  <a:pt x="95" y="402"/>
                </a:lnTo>
                <a:cubicBezTo>
                  <a:pt x="57" y="402"/>
                  <a:pt x="23" y="382"/>
                  <a:pt x="8" y="352"/>
                </a:cubicBezTo>
                <a:cubicBezTo>
                  <a:pt x="-6" y="324"/>
                  <a:pt x="-2" y="291"/>
                  <a:pt x="18" y="263"/>
                </a:cubicBezTo>
                <a:lnTo>
                  <a:pt x="191" y="39"/>
                </a:lnTo>
                <a:cubicBezTo>
                  <a:pt x="215" y="6"/>
                  <a:pt x="257" y="-8"/>
                  <a:pt x="296" y="5"/>
                </a:cubicBezTo>
                <a:cubicBezTo>
                  <a:pt x="336" y="18"/>
                  <a:pt x="361" y="53"/>
                  <a:pt x="361" y="95"/>
                </a:cubicBezTo>
                <a:lnTo>
                  <a:pt x="361" y="334"/>
                </a:lnTo>
                <a:lnTo>
                  <a:pt x="418" y="334"/>
                </a:lnTo>
                <a:lnTo>
                  <a:pt x="418" y="402"/>
                </a:lnTo>
                <a:lnTo>
                  <a:pt x="361" y="402"/>
                </a:lnTo>
                <a:lnTo>
                  <a:pt x="361" y="494"/>
                </a:lnTo>
                <a:moveTo>
                  <a:pt x="82" y="304"/>
                </a:moveTo>
                <a:cubicBezTo>
                  <a:pt x="80" y="307"/>
                  <a:pt x="79" y="311"/>
                  <a:pt x="79" y="315"/>
                </a:cubicBezTo>
                <a:cubicBezTo>
                  <a:pt x="79" y="326"/>
                  <a:pt x="87" y="334"/>
                  <a:pt x="98" y="334"/>
                </a:cubicBezTo>
                <a:lnTo>
                  <a:pt x="286" y="334"/>
                </a:lnTo>
                <a:lnTo>
                  <a:pt x="286" y="93"/>
                </a:lnTo>
                <a:cubicBezTo>
                  <a:pt x="286" y="81"/>
                  <a:pt x="277" y="76"/>
                  <a:pt x="273" y="75"/>
                </a:cubicBezTo>
                <a:cubicBezTo>
                  <a:pt x="272" y="74"/>
                  <a:pt x="269" y="74"/>
                  <a:pt x="266" y="74"/>
                </a:cubicBezTo>
                <a:cubicBezTo>
                  <a:pt x="262" y="74"/>
                  <a:pt x="256" y="75"/>
                  <a:pt x="251" y="82"/>
                </a:cubicBezTo>
                <a:lnTo>
                  <a:pt x="82" y="304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397800" y="6432120"/>
            <a:ext cx="111600" cy="121680"/>
          </a:xfrm>
          <a:custGeom>
            <a:avLst/>
            <a:gdLst/>
            <a:ahLst/>
            <a:rect l="0" t="0" r="r" b="b"/>
            <a:pathLst>
              <a:path w="310" h="338">
                <a:moveTo>
                  <a:pt x="34" y="7"/>
                </a:moveTo>
                <a:cubicBezTo>
                  <a:pt x="24" y="12"/>
                  <a:pt x="15" y="20"/>
                  <a:pt x="8" y="31"/>
                </a:cubicBezTo>
                <a:cubicBezTo>
                  <a:pt x="1" y="42"/>
                  <a:pt x="-1" y="53"/>
                  <a:pt x="0" y="65"/>
                </a:cubicBezTo>
                <a:cubicBezTo>
                  <a:pt x="1" y="85"/>
                  <a:pt x="12" y="104"/>
                  <a:pt x="31" y="116"/>
                </a:cubicBezTo>
                <a:cubicBezTo>
                  <a:pt x="48" y="125"/>
                  <a:pt x="68" y="123"/>
                  <a:pt x="87" y="119"/>
                </a:cubicBezTo>
                <a:cubicBezTo>
                  <a:pt x="110" y="113"/>
                  <a:pt x="129" y="111"/>
                  <a:pt x="150" y="123"/>
                </a:cubicBezTo>
                <a:lnTo>
                  <a:pt x="151" y="123"/>
                </a:lnTo>
                <a:cubicBezTo>
                  <a:pt x="186" y="144"/>
                  <a:pt x="186" y="196"/>
                  <a:pt x="151" y="216"/>
                </a:cubicBezTo>
                <a:lnTo>
                  <a:pt x="150" y="216"/>
                </a:lnTo>
                <a:cubicBezTo>
                  <a:pt x="129" y="229"/>
                  <a:pt x="110" y="226"/>
                  <a:pt x="87" y="220"/>
                </a:cubicBezTo>
                <a:cubicBezTo>
                  <a:pt x="69" y="216"/>
                  <a:pt x="49" y="213"/>
                  <a:pt x="31" y="224"/>
                </a:cubicBezTo>
                <a:cubicBezTo>
                  <a:pt x="12" y="235"/>
                  <a:pt x="1" y="254"/>
                  <a:pt x="0" y="274"/>
                </a:cubicBezTo>
                <a:cubicBezTo>
                  <a:pt x="-1" y="285"/>
                  <a:pt x="1" y="297"/>
                  <a:pt x="8" y="308"/>
                </a:cubicBezTo>
                <a:cubicBezTo>
                  <a:pt x="15" y="318"/>
                  <a:pt x="23" y="327"/>
                  <a:pt x="34" y="331"/>
                </a:cubicBezTo>
                <a:cubicBezTo>
                  <a:pt x="52" y="341"/>
                  <a:pt x="74" y="341"/>
                  <a:pt x="93" y="330"/>
                </a:cubicBezTo>
                <a:cubicBezTo>
                  <a:pt x="110" y="320"/>
                  <a:pt x="118" y="301"/>
                  <a:pt x="123" y="283"/>
                </a:cubicBezTo>
                <a:cubicBezTo>
                  <a:pt x="130" y="260"/>
                  <a:pt x="137" y="242"/>
                  <a:pt x="159" y="230"/>
                </a:cubicBezTo>
                <a:cubicBezTo>
                  <a:pt x="179" y="218"/>
                  <a:pt x="199" y="220"/>
                  <a:pt x="222" y="226"/>
                </a:cubicBezTo>
                <a:cubicBezTo>
                  <a:pt x="240" y="231"/>
                  <a:pt x="260" y="234"/>
                  <a:pt x="278" y="223"/>
                </a:cubicBezTo>
                <a:cubicBezTo>
                  <a:pt x="298" y="212"/>
                  <a:pt x="308" y="192"/>
                  <a:pt x="310" y="173"/>
                </a:cubicBezTo>
                <a:cubicBezTo>
                  <a:pt x="310" y="171"/>
                  <a:pt x="310" y="170"/>
                  <a:pt x="310" y="168"/>
                </a:cubicBezTo>
                <a:cubicBezTo>
                  <a:pt x="310" y="167"/>
                  <a:pt x="310" y="166"/>
                  <a:pt x="310" y="164"/>
                </a:cubicBezTo>
                <a:cubicBezTo>
                  <a:pt x="309" y="143"/>
                  <a:pt x="297" y="125"/>
                  <a:pt x="278" y="114"/>
                </a:cubicBezTo>
                <a:cubicBezTo>
                  <a:pt x="260" y="103"/>
                  <a:pt x="241" y="105"/>
                  <a:pt x="222" y="111"/>
                </a:cubicBezTo>
                <a:cubicBezTo>
                  <a:pt x="199" y="117"/>
                  <a:pt x="179" y="119"/>
                  <a:pt x="159" y="105"/>
                </a:cubicBezTo>
                <a:cubicBezTo>
                  <a:pt x="138" y="93"/>
                  <a:pt x="130" y="76"/>
                  <a:pt x="123" y="53"/>
                </a:cubicBezTo>
                <a:cubicBezTo>
                  <a:pt x="118" y="35"/>
                  <a:pt x="110" y="16"/>
                  <a:pt x="93" y="6"/>
                </a:cubicBezTo>
                <a:cubicBezTo>
                  <a:pt x="74" y="-2"/>
                  <a:pt x="52" y="-2"/>
                  <a:pt x="34" y="7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117800" y="6306480"/>
            <a:ext cx="46440" cy="46800"/>
          </a:xfrm>
          <a:custGeom>
            <a:avLst/>
            <a:gdLst/>
            <a:ahLst/>
            <a:rect l="0" t="0" r="r" b="b"/>
            <a:pathLst>
              <a:path w="129" h="130">
                <a:moveTo>
                  <a:pt x="65" y="0"/>
                </a:moveTo>
                <a:cubicBezTo>
                  <a:pt x="29" y="0"/>
                  <a:pt x="0" y="29"/>
                  <a:pt x="0" y="65"/>
                </a:cubicBezTo>
                <a:cubicBezTo>
                  <a:pt x="0" y="101"/>
                  <a:pt x="29" y="130"/>
                  <a:pt x="65" y="130"/>
                </a:cubicBezTo>
                <a:cubicBezTo>
                  <a:pt x="101" y="130"/>
                  <a:pt x="129" y="101"/>
                  <a:pt x="129" y="65"/>
                </a:cubicBezTo>
                <a:cubicBezTo>
                  <a:pt x="129" y="29"/>
                  <a:pt x="101" y="0"/>
                  <a:pt x="65" y="0"/>
                </a:cubicBezTo>
                <a:close/>
              </a:path>
            </a:pathLst>
          </a:custGeom>
          <a:solidFill>
            <a:srgbClr val="0140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747720" y="3657600"/>
            <a:ext cx="5052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NotoSans-Semi"/>
                <a:ea typeface="NotoSans-Semi"/>
              </a:rPr>
              <a:t>GitHub: </a:t>
            </a:r>
            <a:r>
              <a:rPr b="0" lang="en-US" sz="2170" spc="-1" strike="noStrike">
                <a:solidFill>
                  <a:srgbClr val="0041c6"/>
                </a:solidFill>
                <a:latin typeface="NotoSans"/>
                <a:ea typeface="NotoSans"/>
              </a:rPr>
              <a:t>pedroleitao-neo4j/cyber-vpem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179720" y="6323760"/>
            <a:ext cx="1337040" cy="20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   </a:t>
            </a:r>
            <a:r>
              <a:rPr b="0" lang="en-US" sz="1200" spc="-1" strike="noStrike">
                <a:solidFill>
                  <a:srgbClr val="888888"/>
                </a:solidFill>
                <a:latin typeface="NotoSans"/>
                <a:ea typeface="NotoSans"/>
              </a:rPr>
              <a:t>|    © Neo4j 2026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11644560" y="6327720"/>
            <a:ext cx="261360" cy="31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777777"/>
                </a:solidFill>
                <a:latin typeface="NotoSans"/>
                <a:ea typeface="NotoSans"/>
              </a:rPr>
              <a:t>15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